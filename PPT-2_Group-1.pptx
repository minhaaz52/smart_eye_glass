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56" r:id="rId5"/>
    <p:sldId id="257" r:id="rId6"/>
    <p:sldId id="258" r:id="rId7"/>
    <p:sldId id="261" r:id="rId8"/>
    <p:sldId id="266" r:id="rId9"/>
    <p:sldId id="287" r:id="rId10"/>
    <p:sldId id="286" r:id="rId11"/>
    <p:sldId id="288" r:id="rId12"/>
    <p:sldId id="293" r:id="rId13"/>
    <p:sldId id="294" r:id="rId14"/>
    <p:sldId id="290" r:id="rId15"/>
    <p:sldId id="291" r:id="rId16"/>
    <p:sldId id="283" r:id="rId17"/>
    <p:sldId id="296" r:id="rId18"/>
    <p:sldId id="292" r:id="rId19"/>
    <p:sldId id="285" r:id="rId20"/>
    <p:sldId id="268" r:id="rId21"/>
    <p:sldId id="26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5/7/2023</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5/7/2023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6C391B7-BB20-6CFB-D69B-5F00AC948344}"/>
              </a:ext>
            </a:extLst>
          </p:cNvPr>
          <p:cNvSpPr>
            <a:spLocks noGrp="1"/>
          </p:cNvSpPr>
          <p:nvPr>
            <p:ph type="ctrTitle"/>
          </p:nvPr>
        </p:nvSpPr>
        <p:spPr>
          <a:xfrm>
            <a:off x="2438759" y="1430319"/>
            <a:ext cx="8444395" cy="1667076"/>
          </a:xfrm>
        </p:spPr>
        <p:txBody>
          <a:bodyPr/>
          <a:lstStyle/>
          <a:p>
            <a:r>
              <a:rPr lang="en-US" sz="4000" dirty="0">
                <a:solidFill>
                  <a:srgbClr val="FFFF00"/>
                </a:solidFill>
              </a:rPr>
              <a:t>Smart Eye Glass with Face recognition and obstacle Detection for Virtually impaired</a:t>
            </a:r>
            <a:endParaRPr lang="en-IN" sz="4000" dirty="0">
              <a:solidFill>
                <a:srgbClr val="FFFF00"/>
              </a:solidFill>
            </a:endParaRPr>
          </a:p>
        </p:txBody>
      </p:sp>
      <p:sp>
        <p:nvSpPr>
          <p:cNvPr id="2" name="TextBox 1">
            <a:extLst>
              <a:ext uri="{FF2B5EF4-FFF2-40B4-BE49-F238E27FC236}">
                <a16:creationId xmlns:a16="http://schemas.microsoft.com/office/drawing/2014/main" id="{FB14CDF1-155E-6E69-36A5-B8B420939718}"/>
              </a:ext>
            </a:extLst>
          </p:cNvPr>
          <p:cNvSpPr txBox="1"/>
          <p:nvPr/>
        </p:nvSpPr>
        <p:spPr>
          <a:xfrm>
            <a:off x="1389530" y="4762508"/>
            <a:ext cx="1907895" cy="461665"/>
          </a:xfrm>
          <a:prstGeom prst="rect">
            <a:avLst/>
          </a:prstGeom>
          <a:noFill/>
        </p:spPr>
        <p:txBody>
          <a:bodyPr wrap="none" rtlCol="0">
            <a:spAutoFit/>
          </a:bodyPr>
          <a:lstStyle/>
          <a:p>
            <a:r>
              <a:rPr lang="en-US" sz="2400" b="1" dirty="0">
                <a:solidFill>
                  <a:schemeClr val="bg1"/>
                </a:solidFill>
              </a:rPr>
              <a:t>Group no. 1</a:t>
            </a:r>
            <a:endParaRPr lang="en-IN" sz="2400" b="1" dirty="0">
              <a:solidFill>
                <a:schemeClr val="bg1"/>
              </a:solidFill>
            </a:endParaRPr>
          </a:p>
        </p:txBody>
      </p:sp>
      <p:sp>
        <p:nvSpPr>
          <p:cNvPr id="5" name="TextBox 4">
            <a:extLst>
              <a:ext uri="{FF2B5EF4-FFF2-40B4-BE49-F238E27FC236}">
                <a16:creationId xmlns:a16="http://schemas.microsoft.com/office/drawing/2014/main" id="{4F0BE255-E265-1FA0-CECA-A9B841D13028}"/>
              </a:ext>
            </a:extLst>
          </p:cNvPr>
          <p:cNvSpPr txBox="1"/>
          <p:nvPr/>
        </p:nvSpPr>
        <p:spPr>
          <a:xfrm>
            <a:off x="8471647" y="4514010"/>
            <a:ext cx="3280065" cy="958660"/>
          </a:xfrm>
          <a:prstGeom prst="rect">
            <a:avLst/>
          </a:prstGeom>
          <a:noFill/>
        </p:spPr>
        <p:txBody>
          <a:bodyPr wrap="none" rtlCol="0">
            <a:spAutoFit/>
          </a:bodyPr>
          <a:lstStyle/>
          <a:p>
            <a:pPr>
              <a:lnSpc>
                <a:spcPct val="150000"/>
              </a:lnSpc>
            </a:pPr>
            <a:r>
              <a:rPr lang="en-US" sz="2000" b="1" dirty="0">
                <a:solidFill>
                  <a:schemeClr val="bg1"/>
                </a:solidFill>
              </a:rPr>
              <a:t>19BCS014   Md </a:t>
            </a:r>
            <a:r>
              <a:rPr lang="en-US" sz="2000" b="1" dirty="0" err="1">
                <a:solidFill>
                  <a:schemeClr val="bg1"/>
                </a:solidFill>
              </a:rPr>
              <a:t>Minhaaz</a:t>
            </a:r>
            <a:endParaRPr lang="en-US" sz="2000" b="1" dirty="0">
              <a:solidFill>
                <a:schemeClr val="bg1"/>
              </a:solidFill>
            </a:endParaRPr>
          </a:p>
          <a:p>
            <a:pPr>
              <a:lnSpc>
                <a:spcPct val="150000"/>
              </a:lnSpc>
            </a:pPr>
            <a:r>
              <a:rPr lang="en-US" sz="2000" b="1" dirty="0">
                <a:solidFill>
                  <a:schemeClr val="bg1"/>
                </a:solidFill>
              </a:rPr>
              <a:t>19BCS031   Shahabuddin</a:t>
            </a:r>
            <a:endParaRPr lang="en-IN" sz="2000" b="1" dirty="0">
              <a:solidFill>
                <a:schemeClr val="bg1"/>
              </a:solidFill>
            </a:endParaRPr>
          </a:p>
        </p:txBody>
      </p:sp>
      <p:pic>
        <p:nvPicPr>
          <p:cNvPr id="3" name="Picture 2" descr="Jamia Millia Islamia - Crunchbase School Profile &amp; Alumni">
            <a:extLst>
              <a:ext uri="{FF2B5EF4-FFF2-40B4-BE49-F238E27FC236}">
                <a16:creationId xmlns:a16="http://schemas.microsoft.com/office/drawing/2014/main" id="{6F57598B-924F-F18C-0831-8AA91C66D02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748682" y="418957"/>
            <a:ext cx="1110608" cy="1011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1405844" y="790580"/>
            <a:ext cx="3452641" cy="859055"/>
          </a:xfrm>
        </p:spPr>
        <p:txBody>
          <a:bodyPr>
            <a:normAutofit/>
          </a:bodyPr>
          <a:lstStyle/>
          <a:p>
            <a:r>
              <a:rPr lang="en-US" sz="3600" dirty="0">
                <a:solidFill>
                  <a:srgbClr val="FFFF00"/>
                </a:solidFill>
              </a:rPr>
              <a:t>Objectives</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3" name="TextBox 2">
            <a:extLst>
              <a:ext uri="{FF2B5EF4-FFF2-40B4-BE49-F238E27FC236}">
                <a16:creationId xmlns:a16="http://schemas.microsoft.com/office/drawing/2014/main" id="{F1570F8A-4D2F-CC0C-849D-05EA68BACB4A}"/>
              </a:ext>
            </a:extLst>
          </p:cNvPr>
          <p:cNvSpPr txBox="1"/>
          <p:nvPr/>
        </p:nvSpPr>
        <p:spPr>
          <a:xfrm>
            <a:off x="2671289" y="1851329"/>
            <a:ext cx="2563522" cy="3884397"/>
          </a:xfrm>
          <a:prstGeom prst="rect">
            <a:avLst/>
          </a:prstGeom>
          <a:noFill/>
        </p:spPr>
        <p:txBody>
          <a:bodyPr wrap="none" rtlCol="0">
            <a:spAutoFit/>
          </a:bodyPr>
          <a:lstStyle/>
          <a:p>
            <a:pPr marL="285750" indent="-285750">
              <a:lnSpc>
                <a:spcPct val="200000"/>
              </a:lnSpc>
              <a:buFont typeface="Wingdings" panose="05000000000000000000" pitchFamily="2" charset="2"/>
              <a:buChar char="Ø"/>
            </a:pPr>
            <a:r>
              <a:rPr lang="en-US" b="1" dirty="0">
                <a:solidFill>
                  <a:schemeClr val="bg1"/>
                </a:solidFill>
              </a:rPr>
              <a:t>Introduction</a:t>
            </a:r>
          </a:p>
          <a:p>
            <a:pPr marL="285750" indent="-285750">
              <a:lnSpc>
                <a:spcPct val="200000"/>
              </a:lnSpc>
              <a:buFont typeface="Wingdings" panose="05000000000000000000" pitchFamily="2" charset="2"/>
              <a:buChar char="Ø"/>
            </a:pPr>
            <a:r>
              <a:rPr lang="en-US" b="1" dirty="0">
                <a:solidFill>
                  <a:schemeClr val="bg1"/>
                </a:solidFill>
              </a:rPr>
              <a:t>Block Diagram</a:t>
            </a:r>
          </a:p>
          <a:p>
            <a:pPr marL="285750" indent="-285750">
              <a:lnSpc>
                <a:spcPct val="200000"/>
              </a:lnSpc>
              <a:buFont typeface="Wingdings" panose="05000000000000000000" pitchFamily="2" charset="2"/>
              <a:buChar char="Ø"/>
            </a:pPr>
            <a:r>
              <a:rPr lang="en-US" b="1" dirty="0">
                <a:solidFill>
                  <a:schemeClr val="bg1"/>
                </a:solidFill>
              </a:rPr>
              <a:t>Working</a:t>
            </a:r>
          </a:p>
          <a:p>
            <a:pPr marL="285750" indent="-285750">
              <a:lnSpc>
                <a:spcPct val="200000"/>
              </a:lnSpc>
              <a:buFont typeface="Wingdings" panose="05000000000000000000" pitchFamily="2" charset="2"/>
              <a:buChar char="Ø"/>
            </a:pPr>
            <a:r>
              <a:rPr lang="en-US" b="1" dirty="0">
                <a:solidFill>
                  <a:schemeClr val="bg1"/>
                </a:solidFill>
              </a:rPr>
              <a:t>Obstacle Detection</a:t>
            </a:r>
          </a:p>
          <a:p>
            <a:pPr marL="285750" indent="-285750">
              <a:lnSpc>
                <a:spcPct val="200000"/>
              </a:lnSpc>
              <a:buFont typeface="Wingdings" panose="05000000000000000000" pitchFamily="2" charset="2"/>
              <a:buChar char="Ø"/>
            </a:pPr>
            <a:r>
              <a:rPr lang="en-US" b="1" dirty="0">
                <a:solidFill>
                  <a:schemeClr val="bg1"/>
                </a:solidFill>
              </a:rPr>
              <a:t>Face Recognition</a:t>
            </a:r>
          </a:p>
          <a:p>
            <a:pPr marL="285750" indent="-285750">
              <a:lnSpc>
                <a:spcPct val="200000"/>
              </a:lnSpc>
              <a:buFont typeface="Wingdings" panose="05000000000000000000" pitchFamily="2" charset="2"/>
              <a:buChar char="Ø"/>
            </a:pPr>
            <a:r>
              <a:rPr lang="en-US" b="1" dirty="0">
                <a:solidFill>
                  <a:schemeClr val="bg1"/>
                </a:solidFill>
              </a:rPr>
              <a:t>Limitation</a:t>
            </a:r>
            <a:r>
              <a:rPr lang="en-IN" b="1" dirty="0">
                <a:solidFill>
                  <a:schemeClr val="bg1"/>
                </a:solidFill>
              </a:rPr>
              <a:t>s</a:t>
            </a:r>
          </a:p>
          <a:p>
            <a:pPr marL="285750" indent="-285750">
              <a:lnSpc>
                <a:spcPct val="200000"/>
              </a:lnSpc>
              <a:buFont typeface="Wingdings" panose="05000000000000000000" pitchFamily="2" charset="2"/>
              <a:buChar char="Ø"/>
            </a:pPr>
            <a:r>
              <a:rPr lang="en-IN" b="1" dirty="0">
                <a:solidFill>
                  <a:schemeClr val="bg1"/>
                </a:solidFill>
              </a:rPr>
              <a:t>References</a:t>
            </a:r>
            <a:endParaRPr lang="en-US" b="1" dirty="0">
              <a:solidFill>
                <a:schemeClr val="bg1"/>
              </a:solidFill>
            </a:endParaRP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1819311" y="218818"/>
            <a:ext cx="2585571" cy="535531"/>
          </a:xfrm>
        </p:spPr>
        <p:txBody>
          <a:bodyPr/>
          <a:lstStyle/>
          <a:p>
            <a:r>
              <a:rPr lang="en-US" dirty="0">
                <a:solidFill>
                  <a:srgbClr val="FFFF00"/>
                </a:solidFill>
              </a:rPr>
              <a:t>Introduction</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268364" y="1127750"/>
            <a:ext cx="6261100" cy="2468477"/>
          </a:xfrm>
        </p:spPr>
        <p:txBody>
          <a:bodyPr/>
          <a:lstStyle/>
          <a:p>
            <a:pPr marL="285750" indent="-285750">
              <a:buFont typeface="Wingdings" panose="05000000000000000000" pitchFamily="2" charset="2"/>
              <a:buChar char="v"/>
            </a:pPr>
            <a:r>
              <a:rPr lang="en-US" sz="1800" dirty="0">
                <a:latin typeface="Arial" panose="020B0604020202020204" pitchFamily="34" charset="0"/>
                <a:cs typeface="Arial" panose="020B0604020202020204" pitchFamily="34" charset="0"/>
              </a:rPr>
              <a:t>There are approx. </a:t>
            </a:r>
            <a:r>
              <a:rPr lang="en-US" sz="1800" b="1" dirty="0">
                <a:latin typeface="Arial" panose="020B0604020202020204" pitchFamily="34" charset="0"/>
                <a:cs typeface="Arial" panose="020B0604020202020204" pitchFamily="34" charset="0"/>
              </a:rPr>
              <a:t>2.2 billion people </a:t>
            </a:r>
            <a:r>
              <a:rPr lang="en-US" sz="1800" dirty="0">
                <a:latin typeface="Arial" panose="020B0604020202020204" pitchFamily="34" charset="0"/>
                <a:cs typeface="Arial" panose="020B0604020202020204" pitchFamily="34" charset="0"/>
              </a:rPr>
              <a:t>who are visually impaired or blind, according to 2022 World Health Organization </a:t>
            </a:r>
            <a:r>
              <a:rPr lang="en-US" sz="1800" b="1" dirty="0">
                <a:latin typeface="Arial" panose="020B0604020202020204" pitchFamily="34" charset="0"/>
                <a:cs typeface="Arial" panose="020B0604020202020204" pitchFamily="34" charset="0"/>
              </a:rPr>
              <a:t>(WHO) </a:t>
            </a:r>
            <a:r>
              <a:rPr lang="en-US" sz="1800" dirty="0">
                <a:latin typeface="Arial" panose="020B0604020202020204" pitchFamily="34" charset="0"/>
                <a:cs typeface="Arial" panose="020B0604020202020204" pitchFamily="34" charset="0"/>
              </a:rPr>
              <a:t>research on disability.</a:t>
            </a:r>
          </a:p>
          <a:p>
            <a:pPr marL="285750" indent="-285750">
              <a:buFont typeface="Wingdings" panose="05000000000000000000" pitchFamily="2" charset="2"/>
              <a:buChar char="v"/>
            </a:pPr>
            <a:r>
              <a:rPr lang="en-US" sz="1800" dirty="0">
                <a:latin typeface="Arial" panose="020B0604020202020204" pitchFamily="34" charset="0"/>
                <a:cs typeface="Arial" panose="020B0604020202020204" pitchFamily="34" charset="0"/>
              </a:rPr>
              <a:t>Our aim is to create a small eye glass that will be able to detect face and recognize people.</a:t>
            </a:r>
          </a:p>
          <a:p>
            <a:pPr marL="285750" indent="-285750">
              <a:buFont typeface="Wingdings" panose="05000000000000000000" pitchFamily="2" charset="2"/>
              <a:buChar char="v"/>
            </a:pPr>
            <a:r>
              <a:rPr lang="en-US" sz="1800" dirty="0">
                <a:latin typeface="Arial" panose="020B0604020202020204" pitchFamily="34" charset="0"/>
                <a:cs typeface="Arial" panose="020B0604020202020204" pitchFamily="34" charset="0"/>
              </a:rPr>
              <a:t>It can also detect obstacles and calculate distance to alert the user.</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3</a:t>
            </a:fld>
            <a:endParaRPr lang="en-US" dirty="0"/>
          </a:p>
        </p:txBody>
      </p:sp>
      <p:grpSp>
        <p:nvGrpSpPr>
          <p:cNvPr id="3" name="Group 2">
            <a:extLst>
              <a:ext uri="{FF2B5EF4-FFF2-40B4-BE49-F238E27FC236}">
                <a16:creationId xmlns:a16="http://schemas.microsoft.com/office/drawing/2014/main" id="{CB35A6DE-217D-E014-9E59-731A5D61B89C}"/>
              </a:ext>
            </a:extLst>
          </p:cNvPr>
          <p:cNvGrpSpPr/>
          <p:nvPr/>
        </p:nvGrpSpPr>
        <p:grpSpPr>
          <a:xfrm>
            <a:off x="372783" y="4092399"/>
            <a:ext cx="8600578" cy="1207084"/>
            <a:chOff x="2236739" y="4382337"/>
            <a:chExt cx="9548601" cy="768718"/>
          </a:xfrm>
          <a:solidFill>
            <a:schemeClr val="bg1"/>
          </a:solidFill>
        </p:grpSpPr>
        <p:sp>
          <p:nvSpPr>
            <p:cNvPr id="4" name="TextBox 5">
              <a:extLst>
                <a:ext uri="{FF2B5EF4-FFF2-40B4-BE49-F238E27FC236}">
                  <a16:creationId xmlns:a16="http://schemas.microsoft.com/office/drawing/2014/main" id="{8038E7B9-2026-3523-1E93-BEF33BD70462}"/>
                </a:ext>
              </a:extLst>
            </p:cNvPr>
            <p:cNvSpPr txBox="1"/>
            <p:nvPr/>
          </p:nvSpPr>
          <p:spPr>
            <a:xfrm>
              <a:off x="2236739" y="4597278"/>
              <a:ext cx="2600131" cy="323166"/>
            </a:xfrm>
            <a:prstGeom prst="rect">
              <a:avLst/>
            </a:prstGeom>
            <a:grpFill/>
            <a:effectLst>
              <a:innerShdw blurRad="114300">
                <a:prstClr val="black"/>
              </a:innerShdw>
            </a:effectLst>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Aft>
                  <a:spcPts val="600"/>
                </a:spcAft>
              </a:pPr>
              <a:r>
                <a:rPr lang="en-US" b="1" dirty="0">
                  <a:solidFill>
                    <a:srgbClr val="FF0000"/>
                  </a:solidFill>
                </a:rPr>
                <a:t>Normal Eye Glass</a:t>
              </a:r>
              <a:endParaRPr lang="en-IN" b="1" dirty="0">
                <a:solidFill>
                  <a:srgbClr val="FF0000"/>
                </a:solidFill>
              </a:endParaRPr>
            </a:p>
          </p:txBody>
        </p:sp>
        <p:sp>
          <p:nvSpPr>
            <p:cNvPr id="5" name="Arrow: Right 4">
              <a:extLst>
                <a:ext uri="{FF2B5EF4-FFF2-40B4-BE49-F238E27FC236}">
                  <a16:creationId xmlns:a16="http://schemas.microsoft.com/office/drawing/2014/main" id="{594F7BF6-1EAC-CD05-A122-4D0BCFA71017}"/>
                </a:ext>
              </a:extLst>
            </p:cNvPr>
            <p:cNvSpPr/>
            <p:nvPr/>
          </p:nvSpPr>
          <p:spPr>
            <a:xfrm>
              <a:off x="5417883" y="4590093"/>
              <a:ext cx="3654175" cy="323166"/>
            </a:xfrm>
            <a:prstGeom prst="rightArrow">
              <a:avLst>
                <a:gd name="adj1" fmla="val 50000"/>
                <a:gd name="adj2" fmla="val 80514"/>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N" dirty="0"/>
            </a:p>
          </p:txBody>
        </p:sp>
        <p:sp>
          <p:nvSpPr>
            <p:cNvPr id="6" name="TextBox 7">
              <a:extLst>
                <a:ext uri="{FF2B5EF4-FFF2-40B4-BE49-F238E27FC236}">
                  <a16:creationId xmlns:a16="http://schemas.microsoft.com/office/drawing/2014/main" id="{BBFA38DF-07E6-5E96-B6ED-D9C560228C01}"/>
                </a:ext>
              </a:extLst>
            </p:cNvPr>
            <p:cNvSpPr txBox="1"/>
            <p:nvPr/>
          </p:nvSpPr>
          <p:spPr>
            <a:xfrm>
              <a:off x="9476695" y="4646409"/>
              <a:ext cx="2308645" cy="274035"/>
            </a:xfrm>
            <a:prstGeom prst="rect">
              <a:avLst/>
            </a:prstGeom>
            <a:grpFill/>
            <a:effectLst>
              <a:innerShdw blurRad="114300">
                <a:prstClr val="black"/>
              </a:innerShdw>
            </a:effectLst>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Aft>
                  <a:spcPts val="600"/>
                </a:spcAft>
              </a:pPr>
              <a:r>
                <a:rPr lang="en-US" b="1" dirty="0">
                  <a:solidFill>
                    <a:srgbClr val="00B050"/>
                  </a:solidFill>
                </a:rPr>
                <a:t>Smart Eye Glass</a:t>
              </a:r>
              <a:endParaRPr lang="en-IN" b="1" dirty="0">
                <a:solidFill>
                  <a:srgbClr val="00B050"/>
                </a:solidFill>
              </a:endParaRPr>
            </a:p>
          </p:txBody>
        </p:sp>
        <p:sp>
          <p:nvSpPr>
            <p:cNvPr id="8" name="TextBox 9">
              <a:extLst>
                <a:ext uri="{FF2B5EF4-FFF2-40B4-BE49-F238E27FC236}">
                  <a16:creationId xmlns:a16="http://schemas.microsoft.com/office/drawing/2014/main" id="{F8F39A20-5D8E-56EF-2AAC-9E9149CE514D}"/>
                </a:ext>
              </a:extLst>
            </p:cNvPr>
            <p:cNvSpPr txBox="1"/>
            <p:nvPr/>
          </p:nvSpPr>
          <p:spPr>
            <a:xfrm>
              <a:off x="5707386" y="4382337"/>
              <a:ext cx="2600130" cy="214941"/>
            </a:xfrm>
            <a:prstGeom prst="rect">
              <a:avLst/>
            </a:prstGeom>
            <a:grpFill/>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Aft>
                  <a:spcPts val="600"/>
                </a:spcAft>
              </a:pPr>
              <a:r>
                <a:rPr lang="en-US" b="1" dirty="0">
                  <a:solidFill>
                    <a:schemeClr val="tx1">
                      <a:lumMod val="75000"/>
                    </a:schemeClr>
                  </a:solidFill>
                </a:rPr>
                <a:t>Face Recognition</a:t>
              </a:r>
              <a:endParaRPr lang="en-IN" b="1" dirty="0">
                <a:solidFill>
                  <a:schemeClr val="tx1">
                    <a:lumMod val="75000"/>
                  </a:schemeClr>
                </a:solidFill>
              </a:endParaRPr>
            </a:p>
          </p:txBody>
        </p:sp>
        <p:sp>
          <p:nvSpPr>
            <p:cNvPr id="9" name="TextBox 10">
              <a:extLst>
                <a:ext uri="{FF2B5EF4-FFF2-40B4-BE49-F238E27FC236}">
                  <a16:creationId xmlns:a16="http://schemas.microsoft.com/office/drawing/2014/main" id="{5F375FB8-9C3C-64DD-B8F7-5D87E212B359}"/>
                </a:ext>
              </a:extLst>
            </p:cNvPr>
            <p:cNvSpPr txBox="1"/>
            <p:nvPr/>
          </p:nvSpPr>
          <p:spPr>
            <a:xfrm>
              <a:off x="5707384" y="4913259"/>
              <a:ext cx="2600131" cy="237796"/>
            </a:xfrm>
            <a:prstGeom prst="rect">
              <a:avLst/>
            </a:prstGeom>
            <a:grpFill/>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Aft>
                  <a:spcPts val="600"/>
                </a:spcAft>
              </a:pPr>
              <a:r>
                <a:rPr lang="en-US" b="1" dirty="0">
                  <a:solidFill>
                    <a:schemeClr val="tx1">
                      <a:lumMod val="75000"/>
                    </a:schemeClr>
                  </a:solidFill>
                </a:rPr>
                <a:t>Obstacle Detection</a:t>
              </a:r>
              <a:endParaRPr lang="en-IN" b="1" dirty="0">
                <a:solidFill>
                  <a:schemeClr val="tx1">
                    <a:lumMod val="75000"/>
                  </a:schemeClr>
                </a:solidFill>
              </a:endParaRPr>
            </a:p>
          </p:txBody>
        </p:sp>
      </p:grpSp>
      <p:pic>
        <p:nvPicPr>
          <p:cNvPr id="11" name="Picture 10" descr="Blind Woman With Stick Walks Beside Guide Dog Leads Golden Retriever And  Human Isolated On White Background Cartoon Style Flat Design For Poster  Banner Flyer Web Mockup Business Company Sign Stock Illustration -">
            <a:extLst>
              <a:ext uri="{FF2B5EF4-FFF2-40B4-BE49-F238E27FC236}">
                <a16:creationId xmlns:a16="http://schemas.microsoft.com/office/drawing/2014/main" id="{C0652F89-49C7-0EB1-EC6E-052314487D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3" r="7683" b="-1"/>
          <a:stretch/>
        </p:blipFill>
        <p:spPr bwMode="auto">
          <a:xfrm>
            <a:off x="7112897" y="0"/>
            <a:ext cx="2585571" cy="2812772"/>
          </a:xfrm>
          <a:custGeom>
            <a:avLst/>
            <a:gdLst/>
            <a:ahLst/>
            <a:cxnLst/>
            <a:rect l="l" t="t" r="r" b="b"/>
            <a:pathLst>
              <a:path w="2989398" h="2740475">
                <a:moveTo>
                  <a:pt x="618429" y="0"/>
                </a:moveTo>
                <a:lnTo>
                  <a:pt x="2989398" y="0"/>
                </a:lnTo>
                <a:lnTo>
                  <a:pt x="2989398" y="151959"/>
                </a:lnTo>
                <a:lnTo>
                  <a:pt x="2989398" y="1370238"/>
                </a:lnTo>
                <a:lnTo>
                  <a:pt x="2989398" y="2740475"/>
                </a:lnTo>
                <a:lnTo>
                  <a:pt x="0" y="2740475"/>
                </a:lnTo>
                <a:lnTo>
                  <a:pt x="0" y="151949"/>
                </a:lnTo>
                <a:lnTo>
                  <a:pt x="11940" y="92810"/>
                </a:lnTo>
                <a:cubicBezTo>
                  <a:pt x="27319" y="56449"/>
                  <a:pt x="56447" y="27321"/>
                  <a:pt x="92808" y="11942"/>
                </a:cubicBezTo>
                <a:lnTo>
                  <a:pt x="151947" y="2"/>
                </a:lnTo>
                <a:lnTo>
                  <a:pt x="618429" y="2"/>
                </a:lnTo>
                <a:close/>
              </a:path>
            </a:pathLst>
          </a:custGeom>
          <a:noFill/>
          <a:extLst>
            <a:ext uri="{909E8E84-426E-40DD-AFC4-6F175D3DCCD1}">
              <a14:hiddenFill xmlns:a14="http://schemas.microsoft.com/office/drawing/2010/main">
                <a:solidFill>
                  <a:srgbClr val="FFFFFF"/>
                </a:solidFill>
              </a14:hiddenFill>
            </a:ext>
          </a:extLst>
        </p:spPr>
      </p:pic>
      <p:pic>
        <p:nvPicPr>
          <p:cNvPr id="12" name="Picture 11" descr="3,971 Blind Person Illustrations &amp; Clip Art - iStock">
            <a:extLst>
              <a:ext uri="{FF2B5EF4-FFF2-40B4-BE49-F238E27FC236}">
                <a16:creationId xmlns:a16="http://schemas.microsoft.com/office/drawing/2014/main" id="{412412BB-8D6A-FEAD-D34C-FCB40D030D2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99" r="15017" b="1"/>
          <a:stretch/>
        </p:blipFill>
        <p:spPr bwMode="auto">
          <a:xfrm>
            <a:off x="9698468" y="2672274"/>
            <a:ext cx="2053329" cy="2832779"/>
          </a:xfrm>
          <a:custGeom>
            <a:avLst/>
            <a:gdLst/>
            <a:ahLst/>
            <a:cxnLst/>
            <a:rect l="l" t="t" r="r" b="b"/>
            <a:pathLst>
              <a:path w="2488644" h="2893217">
                <a:moveTo>
                  <a:pt x="6640" y="0"/>
                </a:moveTo>
                <a:lnTo>
                  <a:pt x="2488644" y="0"/>
                </a:lnTo>
                <a:lnTo>
                  <a:pt x="2488644" y="1478584"/>
                </a:lnTo>
                <a:lnTo>
                  <a:pt x="2488644" y="1829101"/>
                </a:lnTo>
                <a:lnTo>
                  <a:pt x="2488644" y="2727776"/>
                </a:lnTo>
                <a:cubicBezTo>
                  <a:pt x="2488644" y="2819147"/>
                  <a:pt x="2414574" y="2893217"/>
                  <a:pt x="2323203" y="2893217"/>
                </a:cubicBezTo>
                <a:lnTo>
                  <a:pt x="896176" y="2893217"/>
                </a:lnTo>
                <a:lnTo>
                  <a:pt x="172081" y="2893217"/>
                </a:lnTo>
                <a:lnTo>
                  <a:pt x="0" y="2893217"/>
                </a:lnTo>
                <a:lnTo>
                  <a:pt x="0" y="140978"/>
                </a:lnTo>
                <a:lnTo>
                  <a:pt x="6640" y="14097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1854720" y="142480"/>
            <a:ext cx="2818654" cy="535531"/>
          </a:xfrm>
        </p:spPr>
        <p:txBody>
          <a:bodyPr/>
          <a:lstStyle/>
          <a:p>
            <a:r>
              <a:rPr lang="en-US" dirty="0">
                <a:solidFill>
                  <a:srgbClr val="FFFF00"/>
                </a:solidFill>
              </a:rPr>
              <a:t>Block Diagram</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14" name="TextBox 13">
            <a:extLst>
              <a:ext uri="{FF2B5EF4-FFF2-40B4-BE49-F238E27FC236}">
                <a16:creationId xmlns:a16="http://schemas.microsoft.com/office/drawing/2014/main" id="{54F16739-9B9C-FE4C-C144-345152561A41}"/>
              </a:ext>
            </a:extLst>
          </p:cNvPr>
          <p:cNvSpPr txBox="1"/>
          <p:nvPr/>
        </p:nvSpPr>
        <p:spPr>
          <a:xfrm>
            <a:off x="4500283" y="2061882"/>
            <a:ext cx="2178423" cy="950223"/>
          </a:xfrm>
          <a:prstGeom prst="rect">
            <a:avLst/>
          </a:prstGeom>
          <a:solidFill>
            <a:schemeClr val="bg1"/>
          </a:solidFill>
          <a:effectLst>
            <a:innerShdw blurRad="114300">
              <a:prstClr val="black"/>
            </a:innerShdw>
          </a:effectLst>
        </p:spPr>
        <p:txBody>
          <a:bodyPr wrap="square" rtlCol="0">
            <a:spAutoFit/>
          </a:bodyPr>
          <a:lstStyle/>
          <a:p>
            <a:r>
              <a:rPr lang="en-US" b="1" dirty="0"/>
              <a:t>  </a:t>
            </a:r>
          </a:p>
          <a:p>
            <a:r>
              <a:rPr lang="en-US" b="1" dirty="0"/>
              <a:t>  </a:t>
            </a:r>
            <a:r>
              <a:rPr lang="en-US" b="1" dirty="0">
                <a:solidFill>
                  <a:schemeClr val="accent6"/>
                </a:solidFill>
              </a:rPr>
              <a:t>Raspberry Pi3</a:t>
            </a:r>
          </a:p>
          <a:p>
            <a:endParaRPr lang="en-IN" b="1" dirty="0"/>
          </a:p>
        </p:txBody>
      </p:sp>
      <p:sp>
        <p:nvSpPr>
          <p:cNvPr id="15" name="TextBox 14">
            <a:extLst>
              <a:ext uri="{FF2B5EF4-FFF2-40B4-BE49-F238E27FC236}">
                <a16:creationId xmlns:a16="http://schemas.microsoft.com/office/drawing/2014/main" id="{9BA9F304-993C-1B39-6630-C2E96C4DE392}"/>
              </a:ext>
            </a:extLst>
          </p:cNvPr>
          <p:cNvSpPr txBox="1"/>
          <p:nvPr/>
        </p:nvSpPr>
        <p:spPr>
          <a:xfrm>
            <a:off x="3264047" y="4706469"/>
            <a:ext cx="1313180" cy="646331"/>
          </a:xfrm>
          <a:prstGeom prst="rect">
            <a:avLst/>
          </a:prstGeom>
          <a:solidFill>
            <a:schemeClr val="bg1"/>
          </a:solidFill>
          <a:effectLst>
            <a:innerShdw blurRad="114300">
              <a:prstClr val="black"/>
            </a:innerShdw>
          </a:effectLst>
        </p:spPr>
        <p:txBody>
          <a:bodyPr wrap="none" rtlCol="0">
            <a:spAutoFit/>
          </a:bodyPr>
          <a:lstStyle/>
          <a:p>
            <a:r>
              <a:rPr lang="en-US" b="1" dirty="0"/>
              <a:t>Ultrasonic</a:t>
            </a:r>
          </a:p>
          <a:p>
            <a:r>
              <a:rPr lang="en-US" b="1" dirty="0"/>
              <a:t>Sensor</a:t>
            </a:r>
            <a:endParaRPr lang="en-IN" b="1" dirty="0"/>
          </a:p>
        </p:txBody>
      </p:sp>
      <p:sp>
        <p:nvSpPr>
          <p:cNvPr id="16" name="TextBox 15">
            <a:extLst>
              <a:ext uri="{FF2B5EF4-FFF2-40B4-BE49-F238E27FC236}">
                <a16:creationId xmlns:a16="http://schemas.microsoft.com/office/drawing/2014/main" id="{7F83D963-68E7-4786-8936-ED742BAC90A5}"/>
              </a:ext>
            </a:extLst>
          </p:cNvPr>
          <p:cNvSpPr txBox="1"/>
          <p:nvPr/>
        </p:nvSpPr>
        <p:spPr>
          <a:xfrm>
            <a:off x="6678705" y="4567969"/>
            <a:ext cx="1165413" cy="923330"/>
          </a:xfrm>
          <a:prstGeom prst="rect">
            <a:avLst/>
          </a:prstGeom>
          <a:solidFill>
            <a:schemeClr val="bg1"/>
          </a:solidFill>
          <a:effectLst>
            <a:innerShdw blurRad="114300">
              <a:prstClr val="black"/>
            </a:innerShdw>
          </a:effectLst>
        </p:spPr>
        <p:txBody>
          <a:bodyPr wrap="square" rtlCol="0">
            <a:spAutoFit/>
          </a:bodyPr>
          <a:lstStyle/>
          <a:p>
            <a:endParaRPr lang="en-US" b="1" dirty="0"/>
          </a:p>
          <a:p>
            <a:r>
              <a:rPr lang="en-US" b="1" dirty="0"/>
              <a:t> Camera</a:t>
            </a:r>
          </a:p>
          <a:p>
            <a:endParaRPr lang="en-IN" b="1" dirty="0"/>
          </a:p>
        </p:txBody>
      </p:sp>
      <p:sp>
        <p:nvSpPr>
          <p:cNvPr id="17" name="TextBox 16">
            <a:extLst>
              <a:ext uri="{FF2B5EF4-FFF2-40B4-BE49-F238E27FC236}">
                <a16:creationId xmlns:a16="http://schemas.microsoft.com/office/drawing/2014/main" id="{3B9BE635-85F4-C95C-8131-D24A99740C85}"/>
              </a:ext>
            </a:extLst>
          </p:cNvPr>
          <p:cNvSpPr txBox="1"/>
          <p:nvPr/>
        </p:nvSpPr>
        <p:spPr>
          <a:xfrm>
            <a:off x="1044394" y="2061882"/>
            <a:ext cx="954107" cy="646331"/>
          </a:xfrm>
          <a:prstGeom prst="rect">
            <a:avLst/>
          </a:prstGeom>
          <a:solidFill>
            <a:schemeClr val="bg1"/>
          </a:solidFill>
          <a:effectLst>
            <a:innerShdw blurRad="114300">
              <a:prstClr val="black"/>
            </a:innerShdw>
          </a:effectLst>
        </p:spPr>
        <p:txBody>
          <a:bodyPr wrap="none" rtlCol="0">
            <a:spAutoFit/>
          </a:bodyPr>
          <a:lstStyle/>
          <a:p>
            <a:r>
              <a:rPr lang="en-US" b="1" dirty="0"/>
              <a:t>Power </a:t>
            </a:r>
          </a:p>
          <a:p>
            <a:r>
              <a:rPr lang="en-US" b="1" dirty="0"/>
              <a:t>Supply</a:t>
            </a:r>
            <a:endParaRPr lang="en-IN" b="1" dirty="0"/>
          </a:p>
        </p:txBody>
      </p:sp>
      <p:sp>
        <p:nvSpPr>
          <p:cNvPr id="18" name="TextBox 17">
            <a:extLst>
              <a:ext uri="{FF2B5EF4-FFF2-40B4-BE49-F238E27FC236}">
                <a16:creationId xmlns:a16="http://schemas.microsoft.com/office/drawing/2014/main" id="{A3656546-9A6F-2D9E-50ED-0A172F5F7EA5}"/>
              </a:ext>
            </a:extLst>
          </p:cNvPr>
          <p:cNvSpPr txBox="1"/>
          <p:nvPr/>
        </p:nvSpPr>
        <p:spPr>
          <a:xfrm>
            <a:off x="8857128" y="1944904"/>
            <a:ext cx="1900517" cy="646331"/>
          </a:xfrm>
          <a:prstGeom prst="rect">
            <a:avLst/>
          </a:prstGeom>
          <a:solidFill>
            <a:schemeClr val="bg1"/>
          </a:solidFill>
          <a:effectLst>
            <a:innerShdw blurRad="114300">
              <a:prstClr val="black"/>
            </a:innerShdw>
          </a:effectLst>
        </p:spPr>
        <p:txBody>
          <a:bodyPr wrap="square" rtlCol="0">
            <a:spAutoFit/>
          </a:bodyPr>
          <a:lstStyle/>
          <a:p>
            <a:r>
              <a:rPr lang="en-US" b="1" dirty="0"/>
              <a:t> Earphone or</a:t>
            </a:r>
          </a:p>
          <a:p>
            <a:r>
              <a:rPr lang="en-US" b="1" dirty="0"/>
              <a:t>    Speaker</a:t>
            </a:r>
            <a:endParaRPr lang="en-IN" b="1" dirty="0"/>
          </a:p>
        </p:txBody>
      </p:sp>
      <p:sp>
        <p:nvSpPr>
          <p:cNvPr id="23" name="Arrow: Left-Right 22">
            <a:extLst>
              <a:ext uri="{FF2B5EF4-FFF2-40B4-BE49-F238E27FC236}">
                <a16:creationId xmlns:a16="http://schemas.microsoft.com/office/drawing/2014/main" id="{3A0B7CC6-4B29-93AF-D1AE-219A7ADCAC7A}"/>
              </a:ext>
            </a:extLst>
          </p:cNvPr>
          <p:cNvSpPr/>
          <p:nvPr/>
        </p:nvSpPr>
        <p:spPr>
          <a:xfrm>
            <a:off x="4577227" y="4823012"/>
            <a:ext cx="2101478" cy="349624"/>
          </a:xfrm>
          <a:prstGeom prst="leftRightArrow">
            <a:avLst>
              <a:gd name="adj1" fmla="val 50000"/>
              <a:gd name="adj2" fmla="val 6538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4" name="Arrow: Bent 23">
            <a:extLst>
              <a:ext uri="{FF2B5EF4-FFF2-40B4-BE49-F238E27FC236}">
                <a16:creationId xmlns:a16="http://schemas.microsoft.com/office/drawing/2014/main" id="{B8DC1FA4-7D16-2845-CDBC-F8E8EFB615C0}"/>
              </a:ext>
            </a:extLst>
          </p:cNvPr>
          <p:cNvSpPr/>
          <p:nvPr/>
        </p:nvSpPr>
        <p:spPr>
          <a:xfrm>
            <a:off x="3693459" y="2617694"/>
            <a:ext cx="806824" cy="2069075"/>
          </a:xfrm>
          <a:prstGeom prst="bentArrow">
            <a:avLst>
              <a:gd name="adj1" fmla="val 23889"/>
              <a:gd name="adj2" fmla="val 25000"/>
              <a:gd name="adj3" fmla="val 31667"/>
              <a:gd name="adj4" fmla="val 44852"/>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a:solidFill>
                <a:schemeClr val="tx1"/>
              </a:solidFill>
            </a:endParaRPr>
          </a:p>
        </p:txBody>
      </p:sp>
      <p:sp>
        <p:nvSpPr>
          <p:cNvPr id="25" name="Arrow: Bent 24">
            <a:extLst>
              <a:ext uri="{FF2B5EF4-FFF2-40B4-BE49-F238E27FC236}">
                <a16:creationId xmlns:a16="http://schemas.microsoft.com/office/drawing/2014/main" id="{5AB4704E-51FC-0B4A-E12E-4584B32759CE}"/>
              </a:ext>
            </a:extLst>
          </p:cNvPr>
          <p:cNvSpPr/>
          <p:nvPr/>
        </p:nvSpPr>
        <p:spPr>
          <a:xfrm flipH="1">
            <a:off x="6678706" y="2622218"/>
            <a:ext cx="806824" cy="1945751"/>
          </a:xfrm>
          <a:prstGeom prst="bentArrow">
            <a:avLst>
              <a:gd name="adj1" fmla="val 25000"/>
              <a:gd name="adj2" fmla="val 25000"/>
              <a:gd name="adj3" fmla="val 33889"/>
              <a:gd name="adj4" fmla="val 43750"/>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6" name="Arrow: Right 25">
            <a:extLst>
              <a:ext uri="{FF2B5EF4-FFF2-40B4-BE49-F238E27FC236}">
                <a16:creationId xmlns:a16="http://schemas.microsoft.com/office/drawing/2014/main" id="{FED6D031-EDB5-3EA9-1126-3775C6ABCFE0}"/>
              </a:ext>
            </a:extLst>
          </p:cNvPr>
          <p:cNvSpPr/>
          <p:nvPr/>
        </p:nvSpPr>
        <p:spPr>
          <a:xfrm>
            <a:off x="1985677" y="2061881"/>
            <a:ext cx="2514606" cy="412378"/>
          </a:xfrm>
          <a:prstGeom prst="rightArrow">
            <a:avLst>
              <a:gd name="adj1" fmla="val 50000"/>
              <a:gd name="adj2" fmla="val 57399"/>
            </a:avLst>
          </a:prstGeom>
          <a:ln>
            <a:solidFill>
              <a:schemeClr val="accent2"/>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sp>
        <p:nvSpPr>
          <p:cNvPr id="27" name="Arrow: Right 26">
            <a:extLst>
              <a:ext uri="{FF2B5EF4-FFF2-40B4-BE49-F238E27FC236}">
                <a16:creationId xmlns:a16="http://schemas.microsoft.com/office/drawing/2014/main" id="{AA8657E7-A865-3EAF-2BF0-62061700648F}"/>
              </a:ext>
            </a:extLst>
          </p:cNvPr>
          <p:cNvSpPr/>
          <p:nvPr/>
        </p:nvSpPr>
        <p:spPr>
          <a:xfrm>
            <a:off x="6678705" y="2016189"/>
            <a:ext cx="2178423" cy="425864"/>
          </a:xfrm>
          <a:prstGeom prst="rightArrow">
            <a:avLst>
              <a:gd name="adj1" fmla="val 50000"/>
              <a:gd name="adj2" fmla="val 65217"/>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69475599-C10D-D31E-EF3F-84BD0A475282}"/>
              </a:ext>
            </a:extLst>
          </p:cNvPr>
          <p:cNvSpPr>
            <a:spLocks noGrp="1"/>
          </p:cNvSpPr>
          <p:nvPr>
            <p:ph type="title"/>
          </p:nvPr>
        </p:nvSpPr>
        <p:spPr>
          <a:xfrm>
            <a:off x="2468575" y="175373"/>
            <a:ext cx="1753801" cy="535531"/>
          </a:xfrm>
        </p:spPr>
        <p:txBody>
          <a:bodyPr/>
          <a:lstStyle/>
          <a:p>
            <a:r>
              <a:rPr lang="en-US" dirty="0">
                <a:solidFill>
                  <a:srgbClr val="FFFF00"/>
                </a:solidFill>
              </a:rPr>
              <a:t>Working</a:t>
            </a:r>
          </a:p>
        </p:txBody>
      </p:sp>
      <p:grpSp>
        <p:nvGrpSpPr>
          <p:cNvPr id="8" name="Group 7">
            <a:extLst>
              <a:ext uri="{FF2B5EF4-FFF2-40B4-BE49-F238E27FC236}">
                <a16:creationId xmlns:a16="http://schemas.microsoft.com/office/drawing/2014/main" id="{951D5866-455B-83E9-6099-342401BD912D}"/>
              </a:ext>
            </a:extLst>
          </p:cNvPr>
          <p:cNvGrpSpPr/>
          <p:nvPr/>
        </p:nvGrpSpPr>
        <p:grpSpPr>
          <a:xfrm>
            <a:off x="555259" y="1490385"/>
            <a:ext cx="11081482" cy="4785737"/>
            <a:chOff x="452771" y="930182"/>
            <a:chExt cx="13046262" cy="6043242"/>
          </a:xfrm>
        </p:grpSpPr>
        <p:sp>
          <p:nvSpPr>
            <p:cNvPr id="9" name="Rectangle 8">
              <a:extLst>
                <a:ext uri="{FF2B5EF4-FFF2-40B4-BE49-F238E27FC236}">
                  <a16:creationId xmlns:a16="http://schemas.microsoft.com/office/drawing/2014/main" id="{50D97D69-733F-D8DC-0C03-F8C36AFA42D5}"/>
                </a:ext>
              </a:extLst>
            </p:cNvPr>
            <p:cNvSpPr/>
            <p:nvPr/>
          </p:nvSpPr>
          <p:spPr>
            <a:xfrm>
              <a:off x="452771" y="1406123"/>
              <a:ext cx="2269148" cy="1003891"/>
            </a:xfrm>
            <a:prstGeom prst="rect">
              <a:avLst/>
            </a:prstGeom>
            <a:solidFill>
              <a:schemeClr val="accent6">
                <a:lumMod val="5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lnSpc>
                  <a:spcPct val="90000"/>
                </a:lnSpc>
                <a:spcAft>
                  <a:spcPts val="600"/>
                </a:spcAft>
              </a:pPr>
              <a:r>
                <a:rPr lang="en-IN" sz="2000" b="1" dirty="0"/>
                <a:t>Smart Eye Glass</a:t>
              </a:r>
            </a:p>
          </p:txBody>
        </p:sp>
        <p:sp>
          <p:nvSpPr>
            <p:cNvPr id="11" name="Rectangle 10">
              <a:extLst>
                <a:ext uri="{FF2B5EF4-FFF2-40B4-BE49-F238E27FC236}">
                  <a16:creationId xmlns:a16="http://schemas.microsoft.com/office/drawing/2014/main" id="{DCFD5A70-764C-92FA-812D-5692B18A9262}"/>
                </a:ext>
              </a:extLst>
            </p:cNvPr>
            <p:cNvSpPr/>
            <p:nvPr/>
          </p:nvSpPr>
          <p:spPr>
            <a:xfrm>
              <a:off x="5590613" y="1191581"/>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lnSpc>
                  <a:spcPct val="90000"/>
                </a:lnSpc>
                <a:spcAft>
                  <a:spcPts val="600"/>
                </a:spcAft>
              </a:pPr>
              <a:r>
                <a:rPr lang="en-IN" sz="2000" b="1" dirty="0"/>
                <a:t>Check if it’s a human or not</a:t>
              </a:r>
            </a:p>
          </p:txBody>
        </p:sp>
        <p:sp>
          <p:nvSpPr>
            <p:cNvPr id="12" name="Rectangle 11">
              <a:extLst>
                <a:ext uri="{FF2B5EF4-FFF2-40B4-BE49-F238E27FC236}">
                  <a16:creationId xmlns:a16="http://schemas.microsoft.com/office/drawing/2014/main" id="{A03EED62-3479-D0D9-1920-90F65282D0BE}"/>
                </a:ext>
              </a:extLst>
            </p:cNvPr>
            <p:cNvSpPr/>
            <p:nvPr/>
          </p:nvSpPr>
          <p:spPr>
            <a:xfrm>
              <a:off x="11032782" y="1177088"/>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lnSpc>
                  <a:spcPct val="90000"/>
                </a:lnSpc>
                <a:spcAft>
                  <a:spcPts val="600"/>
                </a:spcAft>
              </a:pPr>
              <a:r>
                <a:rPr lang="en-IN" sz="2000" b="1" dirty="0"/>
                <a:t>Run facial recognition model</a:t>
              </a:r>
            </a:p>
          </p:txBody>
        </p:sp>
        <p:sp>
          <p:nvSpPr>
            <p:cNvPr id="13" name="Rectangle 12">
              <a:extLst>
                <a:ext uri="{FF2B5EF4-FFF2-40B4-BE49-F238E27FC236}">
                  <a16:creationId xmlns:a16="http://schemas.microsoft.com/office/drawing/2014/main" id="{83ADE730-B0E4-B7C3-34A7-367E5FDFF85C}"/>
                </a:ext>
              </a:extLst>
            </p:cNvPr>
            <p:cNvSpPr/>
            <p:nvPr/>
          </p:nvSpPr>
          <p:spPr>
            <a:xfrm>
              <a:off x="7837285" y="3466039"/>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lnSpc>
                  <a:spcPct val="90000"/>
                </a:lnSpc>
                <a:spcAft>
                  <a:spcPts val="600"/>
                </a:spcAft>
              </a:pPr>
              <a:r>
                <a:rPr lang="en-IN" sz="2000" b="1" dirty="0"/>
                <a:t>Calculate distance</a:t>
              </a:r>
            </a:p>
          </p:txBody>
        </p:sp>
        <p:sp>
          <p:nvSpPr>
            <p:cNvPr id="14" name="Rectangle 13">
              <a:extLst>
                <a:ext uri="{FF2B5EF4-FFF2-40B4-BE49-F238E27FC236}">
                  <a16:creationId xmlns:a16="http://schemas.microsoft.com/office/drawing/2014/main" id="{015AD24F-A1FA-4C6D-9675-2BA922B6B5B2}"/>
                </a:ext>
              </a:extLst>
            </p:cNvPr>
            <p:cNvSpPr/>
            <p:nvPr/>
          </p:nvSpPr>
          <p:spPr>
            <a:xfrm>
              <a:off x="7841721" y="5740498"/>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lnSpc>
                  <a:spcPct val="90000"/>
                </a:lnSpc>
                <a:spcAft>
                  <a:spcPts val="600"/>
                </a:spcAft>
              </a:pPr>
              <a:r>
                <a:rPr lang="en-IN" sz="2000" b="1" dirty="0"/>
                <a:t>Alert the user using voice</a:t>
              </a:r>
            </a:p>
          </p:txBody>
        </p:sp>
        <p:sp>
          <p:nvSpPr>
            <p:cNvPr id="19" name="TextBox 39">
              <a:extLst>
                <a:ext uri="{FF2B5EF4-FFF2-40B4-BE49-F238E27FC236}">
                  <a16:creationId xmlns:a16="http://schemas.microsoft.com/office/drawing/2014/main" id="{418F8893-7D51-B86F-DFD8-B6B2DA5B6A11}"/>
                </a:ext>
              </a:extLst>
            </p:cNvPr>
            <p:cNvSpPr txBox="1"/>
            <p:nvPr/>
          </p:nvSpPr>
          <p:spPr>
            <a:xfrm>
              <a:off x="3006196" y="930182"/>
              <a:ext cx="2140491" cy="646332"/>
            </a:xfrm>
            <a:prstGeom prst="rect">
              <a:avLst/>
            </a:prstGeom>
            <a:solidFill>
              <a:schemeClr val="bg1">
                <a:lumMod val="85000"/>
              </a:schemeClr>
            </a:solidFill>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Aft>
                  <a:spcPts val="600"/>
                </a:spcAft>
              </a:pPr>
              <a:r>
                <a:rPr lang="en-IN" b="1" dirty="0"/>
                <a:t>If obstacle is detected</a:t>
              </a:r>
            </a:p>
          </p:txBody>
        </p:sp>
        <p:sp>
          <p:nvSpPr>
            <p:cNvPr id="20" name="TextBox 42">
              <a:extLst>
                <a:ext uri="{FF2B5EF4-FFF2-40B4-BE49-F238E27FC236}">
                  <a16:creationId xmlns:a16="http://schemas.microsoft.com/office/drawing/2014/main" id="{3BBA5B1C-5378-13DD-F3C8-D65A7AC3F5D2}"/>
                </a:ext>
              </a:extLst>
            </p:cNvPr>
            <p:cNvSpPr txBox="1"/>
            <p:nvPr/>
          </p:nvSpPr>
          <p:spPr>
            <a:xfrm>
              <a:off x="8738240" y="1046209"/>
              <a:ext cx="1539551" cy="369332"/>
            </a:xfrm>
            <a:prstGeom prst="rect">
              <a:avLst/>
            </a:prstGeom>
            <a:solidFill>
              <a:schemeClr val="bg1">
                <a:lumMod val="85000"/>
              </a:schemeClr>
            </a:solidFill>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IN" b="1" dirty="0"/>
                <a:t>If human</a:t>
              </a:r>
            </a:p>
          </p:txBody>
        </p:sp>
        <p:sp>
          <p:nvSpPr>
            <p:cNvPr id="21" name="TextBox 43">
              <a:extLst>
                <a:ext uri="{FF2B5EF4-FFF2-40B4-BE49-F238E27FC236}">
                  <a16:creationId xmlns:a16="http://schemas.microsoft.com/office/drawing/2014/main" id="{F14460E8-3F2B-D5F5-E8E6-7DC93C9A1D04}"/>
                </a:ext>
              </a:extLst>
            </p:cNvPr>
            <p:cNvSpPr txBox="1"/>
            <p:nvPr/>
          </p:nvSpPr>
          <p:spPr>
            <a:xfrm>
              <a:off x="7454145" y="2733412"/>
              <a:ext cx="1087079" cy="369332"/>
            </a:xfrm>
            <a:prstGeom prst="rect">
              <a:avLst/>
            </a:prstGeom>
            <a:solidFill>
              <a:schemeClr val="bg1">
                <a:lumMod val="85000"/>
              </a:schemeClr>
            </a:solidFill>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IN" b="1" dirty="0"/>
                <a:t>If not</a:t>
              </a:r>
            </a:p>
          </p:txBody>
        </p:sp>
        <p:sp>
          <p:nvSpPr>
            <p:cNvPr id="23" name="TextBox 46">
              <a:extLst>
                <a:ext uri="{FF2B5EF4-FFF2-40B4-BE49-F238E27FC236}">
                  <a16:creationId xmlns:a16="http://schemas.microsoft.com/office/drawing/2014/main" id="{895E9FFD-081B-8B8E-1DBC-A8403B54318E}"/>
                </a:ext>
              </a:extLst>
            </p:cNvPr>
            <p:cNvSpPr txBox="1"/>
            <p:nvPr/>
          </p:nvSpPr>
          <p:spPr>
            <a:xfrm>
              <a:off x="2834182" y="5740498"/>
              <a:ext cx="1322084" cy="369332"/>
            </a:xfrm>
            <a:prstGeom prst="rect">
              <a:avLst/>
            </a:prstGeom>
            <a:solidFill>
              <a:srgbClr val="FFC000"/>
            </a:solidFill>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90000"/>
                </a:lnSpc>
                <a:spcAft>
                  <a:spcPts val="600"/>
                </a:spcAft>
              </a:pPr>
              <a:r>
                <a:rPr lang="en-IN" b="1" dirty="0"/>
                <a:t>Repeat</a:t>
              </a:r>
            </a:p>
          </p:txBody>
        </p:sp>
      </p:grpSp>
      <p:sp>
        <p:nvSpPr>
          <p:cNvPr id="31" name="Arrow: Right 30">
            <a:extLst>
              <a:ext uri="{FF2B5EF4-FFF2-40B4-BE49-F238E27FC236}">
                <a16:creationId xmlns:a16="http://schemas.microsoft.com/office/drawing/2014/main" id="{2F17DD5C-3B4B-69BB-002F-00C9A5EE3BB9}"/>
              </a:ext>
            </a:extLst>
          </p:cNvPr>
          <p:cNvSpPr/>
          <p:nvPr/>
        </p:nvSpPr>
        <p:spPr>
          <a:xfrm>
            <a:off x="2482671" y="1983275"/>
            <a:ext cx="2436666" cy="410301"/>
          </a:xfrm>
          <a:prstGeom prst="rightArrow">
            <a:avLst>
              <a:gd name="adj1" fmla="val 50000"/>
              <a:gd name="adj2" fmla="val 69664"/>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Arrow: Right 31">
            <a:extLst>
              <a:ext uri="{FF2B5EF4-FFF2-40B4-BE49-F238E27FC236}">
                <a16:creationId xmlns:a16="http://schemas.microsoft.com/office/drawing/2014/main" id="{EC086297-C5EC-E496-2EE6-E0587E2460BF}"/>
              </a:ext>
            </a:extLst>
          </p:cNvPr>
          <p:cNvSpPr/>
          <p:nvPr/>
        </p:nvSpPr>
        <p:spPr>
          <a:xfrm>
            <a:off x="7014169" y="1908944"/>
            <a:ext cx="2560308" cy="403950"/>
          </a:xfrm>
          <a:prstGeom prst="rightArrow">
            <a:avLst>
              <a:gd name="adj1" fmla="val 50000"/>
              <a:gd name="adj2" fmla="val 6664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Arrow: Down 35">
            <a:extLst>
              <a:ext uri="{FF2B5EF4-FFF2-40B4-BE49-F238E27FC236}">
                <a16:creationId xmlns:a16="http://schemas.microsoft.com/office/drawing/2014/main" id="{50FEFA1E-2607-85B7-F967-9A84360C2D8E}"/>
              </a:ext>
            </a:extLst>
          </p:cNvPr>
          <p:cNvSpPr/>
          <p:nvPr/>
        </p:nvSpPr>
        <p:spPr>
          <a:xfrm>
            <a:off x="7702713" y="4474943"/>
            <a:ext cx="392416" cy="841541"/>
          </a:xfrm>
          <a:prstGeom prst="down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Arrow: Bent-Up 36">
            <a:extLst>
              <a:ext uri="{FF2B5EF4-FFF2-40B4-BE49-F238E27FC236}">
                <a16:creationId xmlns:a16="http://schemas.microsoft.com/office/drawing/2014/main" id="{42FCCD5A-F46D-3354-DDD1-016300E2392A}"/>
              </a:ext>
            </a:extLst>
          </p:cNvPr>
          <p:cNvSpPr/>
          <p:nvPr/>
        </p:nvSpPr>
        <p:spPr>
          <a:xfrm rot="5400000" flipV="1">
            <a:off x="8039014" y="3524377"/>
            <a:ext cx="3476027" cy="1774802"/>
          </a:xfrm>
          <a:prstGeom prst="bentUpArrow">
            <a:avLst>
              <a:gd name="adj1" fmla="val 11362"/>
              <a:gd name="adj2" fmla="val 13382"/>
              <a:gd name="adj3" fmla="val 20959"/>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Bent-Up 37">
            <a:extLst>
              <a:ext uri="{FF2B5EF4-FFF2-40B4-BE49-F238E27FC236}">
                <a16:creationId xmlns:a16="http://schemas.microsoft.com/office/drawing/2014/main" id="{D3065737-2791-E7BF-D188-2501B861EE20}"/>
              </a:ext>
            </a:extLst>
          </p:cNvPr>
          <p:cNvSpPr/>
          <p:nvPr/>
        </p:nvSpPr>
        <p:spPr>
          <a:xfrm flipH="1">
            <a:off x="1102657" y="2657029"/>
            <a:ext cx="5724999" cy="3331395"/>
          </a:xfrm>
          <a:prstGeom prst="bentUpArrow">
            <a:avLst>
              <a:gd name="adj1" fmla="val 6163"/>
              <a:gd name="adj2" fmla="val 6835"/>
              <a:gd name="adj3" fmla="val 12622"/>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Arrow: Bent-Up 38">
            <a:extLst>
              <a:ext uri="{FF2B5EF4-FFF2-40B4-BE49-F238E27FC236}">
                <a16:creationId xmlns:a16="http://schemas.microsoft.com/office/drawing/2014/main" id="{E44CBE0F-EC2F-6361-9A00-2C08DCF9CC86}"/>
              </a:ext>
            </a:extLst>
          </p:cNvPr>
          <p:cNvSpPr/>
          <p:nvPr/>
        </p:nvSpPr>
        <p:spPr>
          <a:xfrm flipV="1">
            <a:off x="7014168" y="2456329"/>
            <a:ext cx="1080961" cy="1058974"/>
          </a:xfrm>
          <a:prstGeom prst="bentUpArrow">
            <a:avLst>
              <a:gd name="adj1" fmla="val 17807"/>
              <a:gd name="adj2" fmla="val 18651"/>
              <a:gd name="adj3" fmla="val 25000"/>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1405844" y="790580"/>
            <a:ext cx="4385356" cy="859055"/>
          </a:xfrm>
        </p:spPr>
        <p:txBody>
          <a:bodyPr>
            <a:normAutofit/>
          </a:bodyPr>
          <a:lstStyle/>
          <a:p>
            <a:r>
              <a:rPr lang="en-US" sz="3600" dirty="0">
                <a:solidFill>
                  <a:srgbClr val="FFFF00"/>
                </a:solidFill>
              </a:rPr>
              <a:t>Obstacle Detection</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3" name="TextBox 2">
            <a:extLst>
              <a:ext uri="{FF2B5EF4-FFF2-40B4-BE49-F238E27FC236}">
                <a16:creationId xmlns:a16="http://schemas.microsoft.com/office/drawing/2014/main" id="{F1570F8A-4D2F-CC0C-849D-05EA68BACB4A}"/>
              </a:ext>
            </a:extLst>
          </p:cNvPr>
          <p:cNvSpPr txBox="1"/>
          <p:nvPr/>
        </p:nvSpPr>
        <p:spPr>
          <a:xfrm>
            <a:off x="2778865" y="2166305"/>
            <a:ext cx="2743059" cy="2776401"/>
          </a:xfrm>
          <a:prstGeom prst="rect">
            <a:avLst/>
          </a:prstGeom>
          <a:noFill/>
        </p:spPr>
        <p:txBody>
          <a:bodyPr wrap="none" rtlCol="0">
            <a:spAutoFit/>
          </a:bodyPr>
          <a:lstStyle/>
          <a:p>
            <a:pPr marL="285750" indent="-285750">
              <a:lnSpc>
                <a:spcPct val="200000"/>
              </a:lnSpc>
              <a:buFont typeface="Wingdings" panose="05000000000000000000" pitchFamily="2" charset="2"/>
              <a:buChar char="Ø"/>
            </a:pPr>
            <a:r>
              <a:rPr lang="en-US" b="1" dirty="0">
                <a:solidFill>
                  <a:schemeClr val="bg1"/>
                </a:solidFill>
              </a:rPr>
              <a:t>Ultrasonic Sensor</a:t>
            </a:r>
          </a:p>
          <a:p>
            <a:pPr marL="285750" indent="-285750">
              <a:lnSpc>
                <a:spcPct val="200000"/>
              </a:lnSpc>
              <a:buFont typeface="Wingdings" panose="05000000000000000000" pitchFamily="2" charset="2"/>
              <a:buChar char="Ø"/>
            </a:pPr>
            <a:r>
              <a:rPr lang="en-US" b="1" dirty="0">
                <a:solidFill>
                  <a:schemeClr val="bg1"/>
                </a:solidFill>
              </a:rPr>
              <a:t>Working Principle</a:t>
            </a:r>
          </a:p>
          <a:p>
            <a:pPr marL="285750" indent="-285750">
              <a:lnSpc>
                <a:spcPct val="200000"/>
              </a:lnSpc>
              <a:buFont typeface="Wingdings" panose="05000000000000000000" pitchFamily="2" charset="2"/>
              <a:buChar char="Ø"/>
            </a:pPr>
            <a:r>
              <a:rPr lang="en-US" b="1" dirty="0">
                <a:solidFill>
                  <a:schemeClr val="bg1"/>
                </a:solidFill>
              </a:rPr>
              <a:t>Distance Calculation</a:t>
            </a:r>
          </a:p>
          <a:p>
            <a:pPr marL="285750" indent="-285750">
              <a:lnSpc>
                <a:spcPct val="200000"/>
              </a:lnSpc>
              <a:buFont typeface="Wingdings" panose="05000000000000000000" pitchFamily="2" charset="2"/>
              <a:buChar char="Ø"/>
            </a:pPr>
            <a:r>
              <a:rPr lang="en-US" b="1" dirty="0">
                <a:solidFill>
                  <a:schemeClr val="bg1"/>
                </a:solidFill>
              </a:rPr>
              <a:t>Raspberry Pi  pin</a:t>
            </a:r>
          </a:p>
          <a:p>
            <a:pPr marL="285750" indent="-285750">
              <a:lnSpc>
                <a:spcPct val="200000"/>
              </a:lnSpc>
              <a:buFont typeface="Wingdings" panose="05000000000000000000" pitchFamily="2" charset="2"/>
              <a:buChar char="Ø"/>
            </a:pPr>
            <a:r>
              <a:rPr lang="en-US" b="1" dirty="0">
                <a:solidFill>
                  <a:schemeClr val="bg1"/>
                </a:solidFill>
              </a:rPr>
              <a:t>Connection</a:t>
            </a:r>
          </a:p>
        </p:txBody>
      </p:sp>
    </p:spTree>
    <p:extLst>
      <p:ext uri="{BB962C8B-B14F-4D97-AF65-F5344CB8AC3E}">
        <p14:creationId xmlns:p14="http://schemas.microsoft.com/office/powerpoint/2010/main" val="15747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 name="Isosceles Triangle 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 name="Isosceles Triangle 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Title 1">
            <a:extLst>
              <a:ext uri="{FF2B5EF4-FFF2-40B4-BE49-F238E27FC236}">
                <a16:creationId xmlns:a16="http://schemas.microsoft.com/office/drawing/2014/main" id="{C90529F7-182E-BE3D-656C-6429A47DBBB5}"/>
              </a:ext>
            </a:extLst>
          </p:cNvPr>
          <p:cNvSpPr>
            <a:spLocks noGrp="1"/>
          </p:cNvSpPr>
          <p:nvPr/>
        </p:nvSpPr>
        <p:spPr>
          <a:xfrm>
            <a:off x="770921" y="267282"/>
            <a:ext cx="5844989" cy="472187"/>
          </a:xfrm>
          <a:prstGeom prst="rect">
            <a:avLst/>
          </a:prstGeom>
        </p:spPr>
        <p:txBody>
          <a:bodyPr vert="horz" lIns="91440" tIns="45720" rIns="91440" bIns="45720" rtlCol="0" anchor="t">
            <a:normAutofit fontScale="825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800" b="1" dirty="0">
                <a:solidFill>
                  <a:srgbClr val="FFFF00"/>
                </a:solidFill>
                <a:latin typeface="Arial" panose="020B0604020202020204" pitchFamily="34" charset="0"/>
                <a:cs typeface="Arial" panose="020B0604020202020204" pitchFamily="34" charset="0"/>
              </a:rPr>
              <a:t>Ultrasonic Sensor &amp;&amp;  Working Principle</a:t>
            </a:r>
            <a:endParaRPr lang="en-US" sz="2800" dirty="0">
              <a:solidFill>
                <a:srgbClr val="FFFF00"/>
              </a:solidFill>
              <a:latin typeface="Arial" panose="020B0604020202020204" pitchFamily="34" charset="0"/>
              <a:cs typeface="Arial" panose="020B0604020202020204" pitchFamily="34" charset="0"/>
            </a:endParaRPr>
          </a:p>
        </p:txBody>
      </p:sp>
      <p:pic>
        <p:nvPicPr>
          <p:cNvPr id="25" name="Picture 24" descr="Iot Project using Ultrasonic Sensor Arduino Distance calculation -  Javatpoint">
            <a:extLst>
              <a:ext uri="{FF2B5EF4-FFF2-40B4-BE49-F238E27FC236}">
                <a16:creationId xmlns:a16="http://schemas.microsoft.com/office/drawing/2014/main" id="{DAC9FAF9-78BE-2AFA-C1B9-ADC507FD7D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8235" y="1133570"/>
            <a:ext cx="7933765" cy="3026055"/>
          </a:xfrm>
          <a:prstGeom prst="rect">
            <a:avLst/>
          </a:prstGeom>
          <a:noFill/>
          <a:effectLst>
            <a:innerShdw blurRad="114300">
              <a:prstClr val="black"/>
            </a:innerShdw>
          </a:effectLst>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20C48D54-20FC-B487-9D29-76A7BCD267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4152" y="4944196"/>
            <a:ext cx="4258235" cy="816147"/>
          </a:xfrm>
          <a:prstGeom prst="rect">
            <a:avLst/>
          </a:prstGeom>
          <a:noFill/>
          <a:ln>
            <a:solidFill>
              <a:schemeClr val="bg1">
                <a:lumMod val="85000"/>
              </a:schemeClr>
            </a:solidFill>
          </a:ln>
          <a:effectLst>
            <a:innerShdw blurRad="114300">
              <a:prstClr val="black"/>
            </a:innerShdw>
          </a:effectLst>
          <a:extLst>
            <a:ext uri="{909E8E84-426E-40DD-AFC4-6F175D3DCCD1}">
              <a14:hiddenFill xmlns:a14="http://schemas.microsoft.com/office/drawing/2010/main">
                <a:solidFill>
                  <a:srgbClr val="FFFFFF"/>
                </a:solidFill>
              </a14:hiddenFill>
            </a:ext>
          </a:extLst>
        </p:spPr>
      </p:pic>
      <p:sp>
        <p:nvSpPr>
          <p:cNvPr id="27" name="TextBox 5">
            <a:extLst>
              <a:ext uri="{FF2B5EF4-FFF2-40B4-BE49-F238E27FC236}">
                <a16:creationId xmlns:a16="http://schemas.microsoft.com/office/drawing/2014/main" id="{964C5C60-AA3B-CC9F-2B9F-EDA50469F847}"/>
              </a:ext>
            </a:extLst>
          </p:cNvPr>
          <p:cNvSpPr txBox="1"/>
          <p:nvPr/>
        </p:nvSpPr>
        <p:spPr>
          <a:xfrm>
            <a:off x="0" y="4336606"/>
            <a:ext cx="6320115" cy="2031325"/>
          </a:xfrm>
          <a:prstGeom prst="rect">
            <a:avLst/>
          </a:prstGeom>
          <a:solidFill>
            <a:schemeClr val="bg1">
              <a:lumMod val="85000"/>
            </a:schemeClr>
          </a:solidFill>
          <a:effectLst>
            <a:innerShdw blurRad="114300">
              <a:prstClr val="black"/>
            </a:innerShdw>
          </a:effectLst>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Courier New" panose="02070309020205020404" pitchFamily="49" charset="0"/>
              <a:buChar char="o"/>
            </a:pPr>
            <a:r>
              <a:rPr lang="en-US" dirty="0">
                <a:latin typeface="MV Boli" panose="02000500030200090000" pitchFamily="2" charset="0"/>
                <a:cs typeface="MV Boli" panose="02000500030200090000" pitchFamily="2" charset="0"/>
              </a:rPr>
              <a:t>Here, </a:t>
            </a:r>
            <a:r>
              <a:rPr lang="en-US" b="1" dirty="0">
                <a:latin typeface="MV Boli" panose="02000500030200090000" pitchFamily="2" charset="0"/>
                <a:cs typeface="MV Boli" panose="02000500030200090000" pitchFamily="2" charset="0"/>
              </a:rPr>
              <a:t>time taken </a:t>
            </a:r>
            <a:r>
              <a:rPr lang="en-US" dirty="0">
                <a:latin typeface="MV Boli" panose="02000500030200090000" pitchFamily="2" charset="0"/>
                <a:cs typeface="MV Boli" panose="02000500030200090000" pitchFamily="2" charset="0"/>
              </a:rPr>
              <a:t>= transmitter to object +</a:t>
            </a:r>
          </a:p>
          <a:p>
            <a:r>
              <a:rPr lang="en-US" dirty="0">
                <a:latin typeface="MV Boli" panose="02000500030200090000" pitchFamily="2" charset="0"/>
                <a:cs typeface="MV Boli" panose="02000500030200090000" pitchFamily="2" charset="0"/>
              </a:rPr>
              <a:t>                           object to receiver</a:t>
            </a:r>
          </a:p>
          <a:p>
            <a:endParaRPr lang="en-US" dirty="0">
              <a:latin typeface="MV Boli" panose="02000500030200090000" pitchFamily="2" charset="0"/>
              <a:cs typeface="MV Boli" panose="02000500030200090000" pitchFamily="2" charset="0"/>
            </a:endParaRPr>
          </a:p>
          <a:p>
            <a:pPr marL="285750" indent="-285750">
              <a:buFont typeface="Courier New" panose="02070309020205020404" pitchFamily="49" charset="0"/>
              <a:buChar char="o"/>
            </a:pPr>
            <a:r>
              <a:rPr lang="en-US" dirty="0">
                <a:latin typeface="MV Boli" panose="02000500030200090000" pitchFamily="2" charset="0"/>
                <a:cs typeface="MV Boli" panose="02000500030200090000" pitchFamily="2" charset="0"/>
              </a:rPr>
              <a:t>Thus, we need to consider </a:t>
            </a:r>
            <a:r>
              <a:rPr lang="en-US" b="1" dirty="0">
                <a:latin typeface="MV Boli" panose="02000500030200090000" pitchFamily="2" charset="0"/>
                <a:cs typeface="MV Boli" panose="02000500030200090000" pitchFamily="2" charset="0"/>
              </a:rPr>
              <a:t>half of the time taken </a:t>
            </a:r>
          </a:p>
          <a:p>
            <a:r>
              <a:rPr lang="en-US" dirty="0">
                <a:latin typeface="MV Boli" panose="02000500030200090000" pitchFamily="2" charset="0"/>
                <a:cs typeface="MV Boli" panose="02000500030200090000" pitchFamily="2" charset="0"/>
              </a:rPr>
              <a:t>         (time taken/2) to calculate distance.</a:t>
            </a:r>
          </a:p>
          <a:p>
            <a:endParaRPr lang="en-US" dirty="0">
              <a:latin typeface="MV Boli" panose="02000500030200090000" pitchFamily="2" charset="0"/>
              <a:cs typeface="MV Boli" panose="02000500030200090000" pitchFamily="2" charset="0"/>
            </a:endParaRPr>
          </a:p>
          <a:p>
            <a:pPr marL="285750" indent="-285750">
              <a:buFont typeface="Courier New" panose="02070309020205020404" pitchFamily="49" charset="0"/>
              <a:buChar char="o"/>
            </a:pPr>
            <a:r>
              <a:rPr lang="en-US" dirty="0">
                <a:latin typeface="MV Boli" panose="02000500030200090000" pitchFamily="2" charset="0"/>
                <a:cs typeface="MV Boli" panose="02000500030200090000" pitchFamily="2" charset="0"/>
              </a:rPr>
              <a:t>Finally, </a:t>
            </a:r>
            <a:r>
              <a:rPr lang="en-US" b="1" dirty="0">
                <a:latin typeface="MV Boli" panose="02000500030200090000" pitchFamily="2" charset="0"/>
                <a:cs typeface="MV Boli" panose="02000500030200090000" pitchFamily="2" charset="0"/>
              </a:rPr>
              <a:t>distance</a:t>
            </a:r>
            <a:r>
              <a:rPr lang="en-US" dirty="0">
                <a:latin typeface="MV Boli" panose="02000500030200090000" pitchFamily="2" charset="0"/>
                <a:cs typeface="MV Boli" panose="02000500030200090000" pitchFamily="2" charset="0"/>
              </a:rPr>
              <a:t> = speed of sound x (time taken/2)</a:t>
            </a:r>
          </a:p>
        </p:txBody>
      </p:sp>
      <p:sp>
        <p:nvSpPr>
          <p:cNvPr id="28" name="Arrow: Down 27">
            <a:extLst>
              <a:ext uri="{FF2B5EF4-FFF2-40B4-BE49-F238E27FC236}">
                <a16:creationId xmlns:a16="http://schemas.microsoft.com/office/drawing/2014/main" id="{BF862C35-49B6-6EBE-26D8-636D953343EC}"/>
              </a:ext>
            </a:extLst>
          </p:cNvPr>
          <p:cNvSpPr/>
          <p:nvPr/>
        </p:nvSpPr>
        <p:spPr>
          <a:xfrm>
            <a:off x="10255623" y="4159625"/>
            <a:ext cx="322725" cy="784571"/>
          </a:xfrm>
          <a:prstGeom prst="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N"/>
          </a:p>
        </p:txBody>
      </p:sp>
      <p:sp>
        <p:nvSpPr>
          <p:cNvPr id="29" name="Arrow: Bent-Up 28">
            <a:extLst>
              <a:ext uri="{FF2B5EF4-FFF2-40B4-BE49-F238E27FC236}">
                <a16:creationId xmlns:a16="http://schemas.microsoft.com/office/drawing/2014/main" id="{119927C7-3642-FC2E-8694-14ABA1EF2F0A}"/>
              </a:ext>
            </a:extLst>
          </p:cNvPr>
          <p:cNvSpPr/>
          <p:nvPr/>
        </p:nvSpPr>
        <p:spPr>
          <a:xfrm rot="10800000">
            <a:off x="2268071" y="3681134"/>
            <a:ext cx="1990162" cy="666748"/>
          </a:xfrm>
          <a:prstGeom prst="bentUp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N" dirty="0"/>
          </a:p>
        </p:txBody>
      </p:sp>
      <p:sp>
        <p:nvSpPr>
          <p:cNvPr id="30" name="TextBox 15">
            <a:extLst>
              <a:ext uri="{FF2B5EF4-FFF2-40B4-BE49-F238E27FC236}">
                <a16:creationId xmlns:a16="http://schemas.microsoft.com/office/drawing/2014/main" id="{63A40C06-4135-71A7-BD2D-D9E965E8F3E6}"/>
              </a:ext>
            </a:extLst>
          </p:cNvPr>
          <p:cNvSpPr txBox="1"/>
          <p:nvPr/>
        </p:nvSpPr>
        <p:spPr>
          <a:xfrm>
            <a:off x="0" y="1119520"/>
            <a:ext cx="2822018" cy="2273699"/>
          </a:xfrm>
          <a:prstGeom prst="rect">
            <a:avLst/>
          </a:prstGeom>
          <a:solidFill>
            <a:schemeClr val="accent2">
              <a:lumMod val="20000"/>
              <a:lumOff val="80000"/>
            </a:schemeClr>
          </a:solidFill>
          <a:effectLst>
            <a:glow rad="63500">
              <a:schemeClr val="accent2">
                <a:satMod val="175000"/>
                <a:alpha val="40000"/>
              </a:schemeClr>
            </a:glow>
          </a:effectLst>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solidFill>
                  <a:schemeClr val="accent1"/>
                </a:solidFill>
                <a:latin typeface="Arial" panose="020B0604020202020204" pitchFamily="34" charset="0"/>
                <a:cs typeface="Arial" panose="020B0604020202020204" pitchFamily="34" charset="0"/>
              </a:rPr>
              <a:t>The HC-SR04 Ultrasonic sensor has four pins.</a:t>
            </a:r>
            <a:endParaRPr lang="en-IN" b="1" dirty="0">
              <a:solidFill>
                <a:schemeClr val="accent1"/>
              </a:solidFill>
              <a:latin typeface="Arial" panose="020B0604020202020204" pitchFamily="34" charset="0"/>
              <a:cs typeface="Arial" panose="020B0604020202020204" pitchFamily="34" charset="0"/>
            </a:endParaRPr>
          </a:p>
          <a:p>
            <a:pPr marL="342900" indent="-342900">
              <a:lnSpc>
                <a:spcPct val="150000"/>
              </a:lnSpc>
              <a:buFont typeface="+mj-lt"/>
              <a:buAutoNum type="arabicPeriod"/>
            </a:pPr>
            <a:r>
              <a:rPr lang="en-IN" b="1" dirty="0" err="1">
                <a:solidFill>
                  <a:schemeClr val="tx2"/>
                </a:solidFill>
              </a:rPr>
              <a:t>Vcc</a:t>
            </a:r>
            <a:endParaRPr lang="en-IN" b="1" dirty="0">
              <a:solidFill>
                <a:schemeClr val="tx2"/>
              </a:solidFill>
            </a:endParaRPr>
          </a:p>
          <a:p>
            <a:pPr marL="342900" indent="-342900">
              <a:lnSpc>
                <a:spcPct val="150000"/>
              </a:lnSpc>
              <a:buFont typeface="+mj-lt"/>
              <a:buAutoNum type="arabicPeriod"/>
            </a:pPr>
            <a:r>
              <a:rPr lang="en-IN" b="1" dirty="0">
                <a:solidFill>
                  <a:schemeClr val="tx2"/>
                </a:solidFill>
              </a:rPr>
              <a:t>TRIG </a:t>
            </a:r>
            <a:r>
              <a:rPr lang="en-IN" dirty="0">
                <a:solidFill>
                  <a:schemeClr val="tx2"/>
                </a:solidFill>
              </a:rPr>
              <a:t>(input)</a:t>
            </a:r>
          </a:p>
          <a:p>
            <a:pPr marL="342900" indent="-342900">
              <a:lnSpc>
                <a:spcPct val="150000"/>
              </a:lnSpc>
              <a:buFont typeface="+mj-lt"/>
              <a:buAutoNum type="arabicPeriod"/>
            </a:pPr>
            <a:r>
              <a:rPr lang="en-IN" b="1" dirty="0">
                <a:solidFill>
                  <a:schemeClr val="tx2"/>
                </a:solidFill>
              </a:rPr>
              <a:t>ECHO </a:t>
            </a:r>
            <a:r>
              <a:rPr lang="en-IN" dirty="0">
                <a:solidFill>
                  <a:schemeClr val="tx2"/>
                </a:solidFill>
              </a:rPr>
              <a:t>(output)</a:t>
            </a:r>
          </a:p>
          <a:p>
            <a:pPr marL="342900" indent="-342900">
              <a:lnSpc>
                <a:spcPct val="150000"/>
              </a:lnSpc>
              <a:buFont typeface="+mj-lt"/>
              <a:buAutoNum type="arabicPeriod"/>
            </a:pPr>
            <a:r>
              <a:rPr lang="en-IN" b="1" dirty="0">
                <a:solidFill>
                  <a:schemeClr val="tx2"/>
                </a:solidFill>
              </a:rPr>
              <a:t>GND</a:t>
            </a:r>
          </a:p>
        </p:txBody>
      </p:sp>
      <p:sp>
        <p:nvSpPr>
          <p:cNvPr id="31" name="Arrow: Down 30">
            <a:extLst>
              <a:ext uri="{FF2B5EF4-FFF2-40B4-BE49-F238E27FC236}">
                <a16:creationId xmlns:a16="http://schemas.microsoft.com/office/drawing/2014/main" id="{69435F5A-442A-35E8-780B-0A43EFC374C0}"/>
              </a:ext>
            </a:extLst>
          </p:cNvPr>
          <p:cNvSpPr/>
          <p:nvPr/>
        </p:nvSpPr>
        <p:spPr>
          <a:xfrm rot="5400000">
            <a:off x="3374839" y="622680"/>
            <a:ext cx="330574" cy="1436215"/>
          </a:xfrm>
          <a:prstGeom prst="downArrow">
            <a:avLst>
              <a:gd name="adj1" fmla="val 50000"/>
              <a:gd name="adj2" fmla="val 68983"/>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N"/>
          </a:p>
        </p:txBody>
      </p:sp>
    </p:spTree>
    <p:extLst>
      <p:ext uri="{BB962C8B-B14F-4D97-AF65-F5344CB8AC3E}">
        <p14:creationId xmlns:p14="http://schemas.microsoft.com/office/powerpoint/2010/main" val="1682870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C573D3-92BF-F0BA-BAEC-3D0F0C805FB2}"/>
              </a:ext>
            </a:extLst>
          </p:cNvPr>
          <p:cNvSpPr txBox="1"/>
          <p:nvPr/>
        </p:nvSpPr>
        <p:spPr>
          <a:xfrm>
            <a:off x="1461247" y="188259"/>
            <a:ext cx="4213013" cy="584775"/>
          </a:xfrm>
          <a:prstGeom prst="rect">
            <a:avLst/>
          </a:prstGeom>
          <a:noFill/>
        </p:spPr>
        <p:txBody>
          <a:bodyPr wrap="none" rtlCol="0">
            <a:spAutoFit/>
          </a:bodyPr>
          <a:lstStyle/>
          <a:p>
            <a:r>
              <a:rPr lang="en-US" sz="3200" b="1" dirty="0">
                <a:solidFill>
                  <a:srgbClr val="FFFF00"/>
                </a:solidFill>
              </a:rPr>
              <a:t>Distance Calculation</a:t>
            </a:r>
            <a:endParaRPr lang="en-IN" sz="3200" b="1" dirty="0">
              <a:solidFill>
                <a:srgbClr val="FFFF00"/>
              </a:solidFill>
            </a:endParaRPr>
          </a:p>
        </p:txBody>
      </p:sp>
      <p:pic>
        <p:nvPicPr>
          <p:cNvPr id="5" name="Picture 2" descr="Arduino Ultrasonic distance sensor">
            <a:extLst>
              <a:ext uri="{FF2B5EF4-FFF2-40B4-BE49-F238E27FC236}">
                <a16:creationId xmlns:a16="http://schemas.microsoft.com/office/drawing/2014/main" id="{EFE22F63-2AB7-2DCD-8098-F773BD47D8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6150" y="1334619"/>
            <a:ext cx="4895850" cy="3028950"/>
          </a:xfrm>
          <a:prstGeom prst="rect">
            <a:avLst/>
          </a:prstGeom>
          <a:noFill/>
          <a:effectLst>
            <a:innerShdw blurRad="114300">
              <a:prstClr val="black"/>
            </a:innerShdw>
          </a:effectLst>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454AFA7-F843-7098-06C3-CEB625FD3136}"/>
              </a:ext>
            </a:extLst>
          </p:cNvPr>
          <p:cNvSpPr txBox="1"/>
          <p:nvPr/>
        </p:nvSpPr>
        <p:spPr>
          <a:xfrm>
            <a:off x="5927355" y="5087772"/>
            <a:ext cx="6264645" cy="1770228"/>
          </a:xfrm>
          <a:prstGeom prst="rect">
            <a:avLst/>
          </a:prstGeom>
          <a:solidFill>
            <a:schemeClr val="bg1">
              <a:lumMod val="95000"/>
            </a:schemeClr>
          </a:solidFill>
          <a:effectLst>
            <a:innerShdw blurRad="114300">
              <a:prstClr val="black"/>
            </a:innerShdw>
          </a:effectLst>
        </p:spPr>
        <p:txBody>
          <a:bodyPr wrap="square" rtlCol="0">
            <a:spAutoFit/>
          </a:bodyPr>
          <a:lstStyle/>
          <a:p>
            <a:pPr marL="285750"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Set the trig pin </a:t>
            </a:r>
            <a:r>
              <a:rPr lang="en-US" sz="1600" b="1" dirty="0">
                <a:latin typeface="Arial" panose="020B0604020202020204" pitchFamily="34" charset="0"/>
                <a:cs typeface="Arial" panose="020B0604020202020204" pitchFamily="34" charset="0"/>
              </a:rPr>
              <a:t>high</a:t>
            </a:r>
            <a:r>
              <a:rPr lang="en-US" sz="1600" dirty="0">
                <a:latin typeface="Arial" panose="020B0604020202020204" pitchFamily="34" charset="0"/>
                <a:cs typeface="Arial" panose="020B0604020202020204" pitchFamily="34" charset="0"/>
              </a:rPr>
              <a:t> for some time(3 to 100 us</a:t>
            </a:r>
            <a:r>
              <a:rPr lang="en-US" sz="1600" dirty="0">
                <a:latin typeface="Arial" panose="020B0604020202020204" pitchFamily="34" charset="0"/>
                <a:ea typeface="Microsoft GothicNeo" panose="020B0503020000020004" pitchFamily="34" charset="-127"/>
                <a:cs typeface="Arial" panose="020B0604020202020204" pitchFamily="34" charset="0"/>
              </a:rPr>
              <a:t>)</a:t>
            </a:r>
          </a:p>
          <a:p>
            <a:pPr marL="285750" indent="-285750">
              <a:buFont typeface="Arial" panose="020B0604020202020204" pitchFamily="34" charset="0"/>
              <a:buChar char="•"/>
            </a:pPr>
            <a:r>
              <a:rPr lang="en-IN" sz="1600" dirty="0">
                <a:latin typeface="Arial" panose="020B0604020202020204" pitchFamily="34" charset="0"/>
                <a:cs typeface="Arial" panose="020B0604020202020204" pitchFamily="34" charset="0"/>
              </a:rPr>
              <a:t>As soon as trig pin is low, the sensor </a:t>
            </a:r>
            <a:r>
              <a:rPr lang="en-IN" sz="1600" b="1" dirty="0">
                <a:latin typeface="Arial" panose="020B0604020202020204" pitchFamily="34" charset="0"/>
                <a:cs typeface="Arial" panose="020B0604020202020204" pitchFamily="34" charset="0"/>
              </a:rPr>
              <a:t>send pulses</a:t>
            </a:r>
            <a:r>
              <a:rPr lang="en-IN" sz="1600" dirty="0">
                <a:latin typeface="Arial" panose="020B0604020202020204" pitchFamily="34" charset="0"/>
                <a:cs typeface="Arial" panose="020B0604020202020204" pitchFamily="34" charset="0"/>
              </a:rPr>
              <a:t> and </a:t>
            </a:r>
            <a:r>
              <a:rPr lang="en-IN" sz="1600" b="1" dirty="0">
                <a:latin typeface="Arial" panose="020B0604020202020204" pitchFamily="34" charset="0"/>
                <a:cs typeface="Arial" panose="020B0604020202020204" pitchFamily="34" charset="0"/>
              </a:rPr>
              <a:t>set echo pin to high</a:t>
            </a:r>
          </a:p>
          <a:p>
            <a:pPr marL="285750" indent="-285750">
              <a:buFont typeface="Arial" panose="020B0604020202020204" pitchFamily="34" charset="0"/>
              <a:buChar char="•"/>
            </a:pPr>
            <a:r>
              <a:rPr lang="en-IN" sz="1600" dirty="0">
                <a:latin typeface="Arial" panose="020B0604020202020204" pitchFamily="34" charset="0"/>
                <a:cs typeface="Arial" panose="020B0604020202020204" pitchFamily="34" charset="0"/>
              </a:rPr>
              <a:t>When the sensor gets the reflected pulses, it set the echo pin to low.</a:t>
            </a:r>
          </a:p>
          <a:p>
            <a:pPr marL="285750" indent="-285750">
              <a:lnSpc>
                <a:spcPct val="150000"/>
              </a:lnSpc>
              <a:buFont typeface="Arial" panose="020B0604020202020204" pitchFamily="34" charset="0"/>
              <a:buChar char="•"/>
            </a:pPr>
            <a:r>
              <a:rPr lang="en-IN" sz="1600" dirty="0">
                <a:latin typeface="Arial" panose="020B0604020202020204" pitchFamily="34" charset="0"/>
                <a:cs typeface="Arial" panose="020B0604020202020204" pitchFamily="34" charset="0"/>
              </a:rPr>
              <a:t>We need to measure time for which echo pin was high.</a:t>
            </a:r>
          </a:p>
        </p:txBody>
      </p:sp>
      <p:sp>
        <p:nvSpPr>
          <p:cNvPr id="8" name="Arrow: Down 7">
            <a:extLst>
              <a:ext uri="{FF2B5EF4-FFF2-40B4-BE49-F238E27FC236}">
                <a16:creationId xmlns:a16="http://schemas.microsoft.com/office/drawing/2014/main" id="{304F1C2A-08F8-E2BC-D024-899286999135}"/>
              </a:ext>
            </a:extLst>
          </p:cNvPr>
          <p:cNvSpPr/>
          <p:nvPr/>
        </p:nvSpPr>
        <p:spPr>
          <a:xfrm>
            <a:off x="9259443" y="4363569"/>
            <a:ext cx="386581" cy="724203"/>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B458BB0-C0A8-1129-F6D6-E1065F21726D}"/>
              </a:ext>
            </a:extLst>
          </p:cNvPr>
          <p:cNvSpPr txBox="1"/>
          <p:nvPr/>
        </p:nvSpPr>
        <p:spPr>
          <a:xfrm>
            <a:off x="609601" y="1541929"/>
            <a:ext cx="5153975" cy="2308324"/>
          </a:xfrm>
          <a:prstGeom prst="rect">
            <a:avLst/>
          </a:prstGeom>
          <a:noFill/>
        </p:spPr>
        <p:txBody>
          <a:bodyPr wrap="square" rtlCol="0">
            <a:spAutoFit/>
          </a:bodyPr>
          <a:lstStyle/>
          <a:p>
            <a:pPr marL="285750" indent="-285750">
              <a:buFont typeface="Courier New" panose="02070309020205020404" pitchFamily="49" charset="0"/>
              <a:buChar char="o"/>
            </a:pPr>
            <a:r>
              <a:rPr lang="en-US" dirty="0">
                <a:solidFill>
                  <a:schemeClr val="bg1"/>
                </a:solidFill>
              </a:rPr>
              <a:t>Speed of Sound = 343 m/sec</a:t>
            </a:r>
            <a:r>
              <a:rPr lang="en-IN" dirty="0">
                <a:solidFill>
                  <a:schemeClr val="bg1"/>
                </a:solidFill>
              </a:rPr>
              <a:t> = 34300 cm/sec</a:t>
            </a:r>
          </a:p>
          <a:p>
            <a:pPr marL="285750" indent="-285750">
              <a:buFont typeface="Courier New" panose="02070309020205020404" pitchFamily="49" charset="0"/>
              <a:buChar char="o"/>
            </a:pPr>
            <a:endParaRPr lang="en-IN" dirty="0">
              <a:solidFill>
                <a:schemeClr val="bg1"/>
              </a:solidFill>
            </a:endParaRPr>
          </a:p>
          <a:p>
            <a:pPr marL="285750" indent="-285750">
              <a:buFont typeface="Courier New" panose="02070309020205020404" pitchFamily="49" charset="0"/>
              <a:buChar char="o"/>
            </a:pPr>
            <a:r>
              <a:rPr lang="en-IN" dirty="0">
                <a:solidFill>
                  <a:schemeClr val="bg1"/>
                </a:solidFill>
              </a:rPr>
              <a:t>Distance Detected = (speed * time) / 2</a:t>
            </a:r>
          </a:p>
          <a:p>
            <a:r>
              <a:rPr lang="en-IN" dirty="0">
                <a:solidFill>
                  <a:schemeClr val="bg1"/>
                </a:solidFill>
              </a:rPr>
              <a:t>                                   = (34300 * time) / 2</a:t>
            </a:r>
          </a:p>
          <a:p>
            <a:r>
              <a:rPr lang="en-IN" dirty="0">
                <a:solidFill>
                  <a:schemeClr val="bg1"/>
                </a:solidFill>
              </a:rPr>
              <a:t>                                   = 17150 * time</a:t>
            </a:r>
          </a:p>
          <a:p>
            <a:pPr marL="285750" indent="-285750">
              <a:buFont typeface="Courier New" panose="02070309020205020404" pitchFamily="49" charset="0"/>
              <a:buChar char="o"/>
            </a:pPr>
            <a:endParaRPr lang="en-IN" dirty="0">
              <a:solidFill>
                <a:schemeClr val="bg1"/>
              </a:solidFill>
            </a:endParaRPr>
          </a:p>
          <a:p>
            <a:pPr marL="285750" indent="-285750">
              <a:buFont typeface="Courier New" panose="02070309020205020404" pitchFamily="49" charset="0"/>
              <a:buChar char="o"/>
            </a:pPr>
            <a:r>
              <a:rPr lang="en-IN" b="1" dirty="0">
                <a:solidFill>
                  <a:schemeClr val="bg1"/>
                </a:solidFill>
              </a:rPr>
              <a:t>Distance Detected = (17150 * time ) cm/sec</a:t>
            </a:r>
          </a:p>
          <a:p>
            <a:pPr marL="285750" indent="-285750">
              <a:buFont typeface="Courier New" panose="02070309020205020404" pitchFamily="49" charset="0"/>
              <a:buChar char="o"/>
            </a:pPr>
            <a:endParaRPr lang="en-US" dirty="0">
              <a:solidFill>
                <a:schemeClr val="bg1"/>
              </a:solidFill>
            </a:endParaRPr>
          </a:p>
        </p:txBody>
      </p:sp>
      <p:sp>
        <p:nvSpPr>
          <p:cNvPr id="11" name="TextBox 10">
            <a:extLst>
              <a:ext uri="{FF2B5EF4-FFF2-40B4-BE49-F238E27FC236}">
                <a16:creationId xmlns:a16="http://schemas.microsoft.com/office/drawing/2014/main" id="{2D25E488-750C-DC59-C98E-92BD92B97137}"/>
              </a:ext>
            </a:extLst>
          </p:cNvPr>
          <p:cNvSpPr txBox="1"/>
          <p:nvPr/>
        </p:nvSpPr>
        <p:spPr>
          <a:xfrm>
            <a:off x="609601" y="3576367"/>
            <a:ext cx="5207516" cy="1287532"/>
          </a:xfrm>
          <a:prstGeom prst="rect">
            <a:avLst/>
          </a:prstGeom>
          <a:noFill/>
        </p:spPr>
        <p:txBody>
          <a:bodyPr wrap="none" rtlCol="0">
            <a:spAutoFit/>
          </a:bodyPr>
          <a:lstStyle/>
          <a:p>
            <a:pPr>
              <a:lnSpc>
                <a:spcPct val="150000"/>
              </a:lnSpc>
            </a:pPr>
            <a:r>
              <a:rPr lang="en-US" b="1" dirty="0">
                <a:solidFill>
                  <a:schemeClr val="accent1">
                    <a:lumMod val="20000"/>
                    <a:lumOff val="80000"/>
                  </a:schemeClr>
                </a:solidFill>
              </a:rPr>
              <a:t>Here,</a:t>
            </a:r>
          </a:p>
          <a:p>
            <a:pPr marL="285750" indent="-285750">
              <a:lnSpc>
                <a:spcPct val="150000"/>
              </a:lnSpc>
              <a:buFont typeface="Courier New" panose="02070309020205020404" pitchFamily="49" charset="0"/>
              <a:buChar char="o"/>
            </a:pPr>
            <a:r>
              <a:rPr lang="en-US" b="1" dirty="0">
                <a:solidFill>
                  <a:schemeClr val="accent1">
                    <a:lumMod val="20000"/>
                    <a:lumOff val="80000"/>
                  </a:schemeClr>
                </a:solidFill>
              </a:rPr>
              <a:t>time = Time duration when echo pin is high</a:t>
            </a:r>
          </a:p>
          <a:p>
            <a:pPr>
              <a:lnSpc>
                <a:spcPct val="150000"/>
              </a:lnSpc>
            </a:pPr>
            <a:r>
              <a:rPr lang="en-US" b="1" dirty="0">
                <a:solidFill>
                  <a:schemeClr val="accent1">
                    <a:lumMod val="20000"/>
                    <a:lumOff val="80000"/>
                  </a:schemeClr>
                </a:solidFill>
              </a:rPr>
              <a:t>        = </a:t>
            </a:r>
            <a:r>
              <a:rPr lang="en-US" b="1" dirty="0" err="1">
                <a:solidFill>
                  <a:schemeClr val="accent1">
                    <a:lumMod val="20000"/>
                    <a:lumOff val="80000"/>
                  </a:schemeClr>
                </a:solidFill>
              </a:rPr>
              <a:t>echo_pulse_end</a:t>
            </a:r>
            <a:r>
              <a:rPr lang="en-US" b="1" dirty="0">
                <a:solidFill>
                  <a:schemeClr val="accent1">
                    <a:lumMod val="20000"/>
                    <a:lumOff val="80000"/>
                  </a:schemeClr>
                </a:solidFill>
              </a:rPr>
              <a:t> – </a:t>
            </a:r>
            <a:r>
              <a:rPr lang="en-US" b="1" dirty="0" err="1">
                <a:solidFill>
                  <a:schemeClr val="accent1">
                    <a:lumMod val="20000"/>
                    <a:lumOff val="80000"/>
                  </a:schemeClr>
                </a:solidFill>
              </a:rPr>
              <a:t>echo_pulse_start</a:t>
            </a:r>
            <a:endParaRPr lang="en-IN" b="1" dirty="0">
              <a:solidFill>
                <a:schemeClr val="accent1">
                  <a:lumMod val="20000"/>
                  <a:lumOff val="80000"/>
                </a:schemeClr>
              </a:solidFill>
            </a:endParaRPr>
          </a:p>
        </p:txBody>
      </p:sp>
    </p:spTree>
    <p:extLst>
      <p:ext uri="{BB962C8B-B14F-4D97-AF65-F5344CB8AC3E}">
        <p14:creationId xmlns:p14="http://schemas.microsoft.com/office/powerpoint/2010/main" val="304194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C573D3-92BF-F0BA-BAEC-3D0F0C805FB2}"/>
              </a:ext>
            </a:extLst>
          </p:cNvPr>
          <p:cNvSpPr txBox="1"/>
          <p:nvPr/>
        </p:nvSpPr>
        <p:spPr>
          <a:xfrm>
            <a:off x="1846730" y="233082"/>
            <a:ext cx="3555782" cy="584775"/>
          </a:xfrm>
          <a:prstGeom prst="rect">
            <a:avLst/>
          </a:prstGeom>
          <a:noFill/>
        </p:spPr>
        <p:txBody>
          <a:bodyPr wrap="none" rtlCol="0">
            <a:spAutoFit/>
          </a:bodyPr>
          <a:lstStyle/>
          <a:p>
            <a:r>
              <a:rPr lang="en-US" sz="3200" b="1" dirty="0">
                <a:solidFill>
                  <a:srgbClr val="FFFF00"/>
                </a:solidFill>
              </a:rPr>
              <a:t>Raspberry Pi  pin</a:t>
            </a:r>
            <a:endParaRPr lang="en-IN" sz="3200" b="1" dirty="0">
              <a:solidFill>
                <a:srgbClr val="FFFF00"/>
              </a:solidFill>
            </a:endParaRPr>
          </a:p>
        </p:txBody>
      </p:sp>
      <p:pic>
        <p:nvPicPr>
          <p:cNvPr id="5" name="Picture 4">
            <a:extLst>
              <a:ext uri="{FF2B5EF4-FFF2-40B4-BE49-F238E27FC236}">
                <a16:creationId xmlns:a16="http://schemas.microsoft.com/office/drawing/2014/main" id="{00E8F3B7-632A-46D9-8FC9-A5DD72E67363}"/>
              </a:ext>
            </a:extLst>
          </p:cNvPr>
          <p:cNvPicPr>
            <a:picLocks noChangeAspect="1"/>
          </p:cNvPicPr>
          <p:nvPr/>
        </p:nvPicPr>
        <p:blipFill>
          <a:blip r:embed="rId2"/>
          <a:stretch>
            <a:fillRect/>
          </a:stretch>
        </p:blipFill>
        <p:spPr>
          <a:xfrm>
            <a:off x="4783496" y="1340248"/>
            <a:ext cx="7408504" cy="4522670"/>
          </a:xfrm>
          <a:prstGeom prst="rect">
            <a:avLst/>
          </a:prstGeom>
        </p:spPr>
      </p:pic>
      <p:sp>
        <p:nvSpPr>
          <p:cNvPr id="6" name="TextBox 5">
            <a:extLst>
              <a:ext uri="{FF2B5EF4-FFF2-40B4-BE49-F238E27FC236}">
                <a16:creationId xmlns:a16="http://schemas.microsoft.com/office/drawing/2014/main" id="{271B66BB-FB40-35A1-8471-7EFC6BA9F13D}"/>
              </a:ext>
            </a:extLst>
          </p:cNvPr>
          <p:cNvSpPr txBox="1"/>
          <p:nvPr/>
        </p:nvSpPr>
        <p:spPr>
          <a:xfrm>
            <a:off x="219426" y="1828801"/>
            <a:ext cx="4346062" cy="3416320"/>
          </a:xfrm>
          <a:prstGeom prst="rect">
            <a:avLst/>
          </a:prstGeom>
          <a:noFill/>
        </p:spPr>
        <p:txBody>
          <a:bodyPr wrap="none" rtlCol="0">
            <a:spAutoFit/>
          </a:bodyPr>
          <a:lstStyle/>
          <a:p>
            <a:pPr marL="285750" indent="-285750">
              <a:buFont typeface="Arial" panose="020B0604020202020204" pitchFamily="34" charset="0"/>
              <a:buChar char="•"/>
            </a:pPr>
            <a:r>
              <a:rPr lang="en-US" b="1" dirty="0">
                <a:solidFill>
                  <a:schemeClr val="bg1">
                    <a:lumMod val="85000"/>
                  </a:schemeClr>
                </a:solidFill>
              </a:rPr>
              <a:t>GPIO </a:t>
            </a:r>
            <a:r>
              <a:rPr lang="en-US" dirty="0">
                <a:solidFill>
                  <a:schemeClr val="bg1">
                    <a:lumMod val="85000"/>
                  </a:schemeClr>
                </a:solidFill>
              </a:rPr>
              <a:t>(General Purpose Input Output)</a:t>
            </a:r>
          </a:p>
          <a:p>
            <a:pPr marL="285750" indent="-285750">
              <a:buFont typeface="Arial" panose="020B0604020202020204" pitchFamily="34" charset="0"/>
              <a:buChar char="•"/>
            </a:pPr>
            <a:endParaRPr lang="en-US" b="1" dirty="0">
              <a:solidFill>
                <a:schemeClr val="bg1">
                  <a:lumMod val="85000"/>
                </a:schemeClr>
              </a:solidFill>
            </a:endParaRPr>
          </a:p>
          <a:p>
            <a:pPr marL="285750" indent="-285750">
              <a:buFont typeface="Arial" panose="020B0604020202020204" pitchFamily="34" charset="0"/>
              <a:buChar char="•"/>
            </a:pPr>
            <a:r>
              <a:rPr lang="en-US" b="1" dirty="0">
                <a:solidFill>
                  <a:schemeClr val="bg1">
                    <a:lumMod val="85000"/>
                  </a:schemeClr>
                </a:solidFill>
              </a:rPr>
              <a:t>5v PWR</a:t>
            </a:r>
          </a:p>
          <a:p>
            <a:pPr marL="285750" indent="-285750">
              <a:buFont typeface="Arial" panose="020B0604020202020204" pitchFamily="34" charset="0"/>
              <a:buChar char="•"/>
            </a:pPr>
            <a:endParaRPr lang="en-US" b="1" dirty="0">
              <a:solidFill>
                <a:schemeClr val="bg1">
                  <a:lumMod val="85000"/>
                </a:schemeClr>
              </a:solidFill>
            </a:endParaRPr>
          </a:p>
          <a:p>
            <a:pPr marL="285750" indent="-285750">
              <a:buFont typeface="Arial" panose="020B0604020202020204" pitchFamily="34" charset="0"/>
              <a:buChar char="•"/>
            </a:pPr>
            <a:r>
              <a:rPr lang="en-US" b="1" dirty="0">
                <a:solidFill>
                  <a:schemeClr val="bg1">
                    <a:lumMod val="85000"/>
                  </a:schemeClr>
                </a:solidFill>
              </a:rPr>
              <a:t>3.3v PWR</a:t>
            </a:r>
          </a:p>
          <a:p>
            <a:pPr marL="285750" indent="-285750">
              <a:buFont typeface="Arial" panose="020B0604020202020204" pitchFamily="34" charset="0"/>
              <a:buChar char="•"/>
            </a:pPr>
            <a:endParaRPr lang="en-US" b="1" dirty="0">
              <a:solidFill>
                <a:schemeClr val="bg1">
                  <a:lumMod val="85000"/>
                </a:schemeClr>
              </a:solidFill>
            </a:endParaRPr>
          </a:p>
          <a:p>
            <a:pPr marL="285750" indent="-285750">
              <a:buFont typeface="Arial" panose="020B0604020202020204" pitchFamily="34" charset="0"/>
              <a:buChar char="•"/>
            </a:pPr>
            <a:r>
              <a:rPr lang="en-US" b="1" dirty="0">
                <a:solidFill>
                  <a:schemeClr val="bg1">
                    <a:lumMod val="85000"/>
                  </a:schemeClr>
                </a:solidFill>
              </a:rPr>
              <a:t>Reserved</a:t>
            </a:r>
          </a:p>
          <a:p>
            <a:pPr marL="285750" indent="-285750">
              <a:buFont typeface="Arial" panose="020B0604020202020204" pitchFamily="34" charset="0"/>
              <a:buChar char="•"/>
            </a:pPr>
            <a:endParaRPr lang="en-US" b="1" dirty="0">
              <a:solidFill>
                <a:schemeClr val="bg1">
                  <a:lumMod val="85000"/>
                </a:schemeClr>
              </a:solidFill>
            </a:endParaRPr>
          </a:p>
          <a:p>
            <a:pPr marL="285750" indent="-285750">
              <a:buFont typeface="Arial" panose="020B0604020202020204" pitchFamily="34" charset="0"/>
              <a:buChar char="•"/>
            </a:pPr>
            <a:r>
              <a:rPr lang="en-US" b="1" dirty="0">
                <a:solidFill>
                  <a:schemeClr val="bg1">
                    <a:lumMod val="85000"/>
                  </a:schemeClr>
                </a:solidFill>
              </a:rPr>
              <a:t>GND</a:t>
            </a:r>
          </a:p>
          <a:p>
            <a:pPr marL="285750" indent="-285750">
              <a:buFont typeface="Arial" panose="020B0604020202020204" pitchFamily="34" charset="0"/>
              <a:buChar char="•"/>
            </a:pPr>
            <a:endParaRPr lang="en-US" b="1" dirty="0">
              <a:solidFill>
                <a:schemeClr val="bg1">
                  <a:lumMod val="85000"/>
                </a:schemeClr>
              </a:solidFill>
            </a:endParaRPr>
          </a:p>
          <a:p>
            <a:pPr marL="285750" indent="-285750">
              <a:buFont typeface="Arial" panose="020B0604020202020204" pitchFamily="34" charset="0"/>
              <a:buChar char="•"/>
            </a:pPr>
            <a:r>
              <a:rPr lang="en-US" b="1" dirty="0">
                <a:solidFill>
                  <a:schemeClr val="bg1">
                    <a:lumMod val="85000"/>
                  </a:schemeClr>
                </a:solidFill>
              </a:rPr>
              <a:t>It has 40 pins</a:t>
            </a:r>
          </a:p>
          <a:p>
            <a:pPr marL="285750" indent="-285750">
              <a:buFont typeface="Arial" panose="020B0604020202020204" pitchFamily="34" charset="0"/>
              <a:buChar char="•"/>
            </a:pPr>
            <a:endParaRPr lang="en-US" b="1" dirty="0">
              <a:solidFill>
                <a:schemeClr val="bg1">
                  <a:lumMod val="85000"/>
                </a:schemeClr>
              </a:solidFill>
            </a:endParaRPr>
          </a:p>
        </p:txBody>
      </p:sp>
    </p:spTree>
    <p:extLst>
      <p:ext uri="{BB962C8B-B14F-4D97-AF65-F5344CB8AC3E}">
        <p14:creationId xmlns:p14="http://schemas.microsoft.com/office/powerpoint/2010/main" val="2795387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6BD5-F9A9-12A8-C606-B1C89B60910C}"/>
              </a:ext>
            </a:extLst>
          </p:cNvPr>
          <p:cNvSpPr>
            <a:spLocks noGrp="1"/>
          </p:cNvSpPr>
          <p:nvPr/>
        </p:nvSpPr>
        <p:spPr>
          <a:xfrm>
            <a:off x="331694" y="859149"/>
            <a:ext cx="6660777" cy="472187"/>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dirty="0">
                <a:solidFill>
                  <a:srgbClr val="FFFF00"/>
                </a:solidFill>
                <a:latin typeface="Arial" panose="020B0604020202020204" pitchFamily="34" charset="0"/>
                <a:cs typeface="Arial" panose="020B0604020202020204" pitchFamily="34" charset="0"/>
              </a:rPr>
              <a:t>Ultrasonic Sensor with Raspberry Pi3</a:t>
            </a:r>
            <a:endParaRPr lang="en-US" sz="2400" dirty="0">
              <a:solidFill>
                <a:srgbClr val="FFFF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7C573D3-92BF-F0BA-BAEC-3D0F0C805FB2}"/>
              </a:ext>
            </a:extLst>
          </p:cNvPr>
          <p:cNvSpPr txBox="1"/>
          <p:nvPr/>
        </p:nvSpPr>
        <p:spPr>
          <a:xfrm>
            <a:off x="1963271" y="71718"/>
            <a:ext cx="2436886" cy="584775"/>
          </a:xfrm>
          <a:prstGeom prst="rect">
            <a:avLst/>
          </a:prstGeom>
          <a:noFill/>
        </p:spPr>
        <p:txBody>
          <a:bodyPr wrap="none" rtlCol="0">
            <a:spAutoFit/>
          </a:bodyPr>
          <a:lstStyle/>
          <a:p>
            <a:r>
              <a:rPr lang="en-US" sz="3200" b="1" dirty="0">
                <a:solidFill>
                  <a:schemeClr val="accent6"/>
                </a:solidFill>
              </a:rPr>
              <a:t>Connection</a:t>
            </a:r>
            <a:endParaRPr lang="en-IN" sz="3200" b="1" dirty="0">
              <a:solidFill>
                <a:schemeClr val="accent6"/>
              </a:solidFill>
            </a:endParaRPr>
          </a:p>
        </p:txBody>
      </p:sp>
      <p:pic>
        <p:nvPicPr>
          <p:cNvPr id="5" name="Picture 4">
            <a:extLst>
              <a:ext uri="{FF2B5EF4-FFF2-40B4-BE49-F238E27FC236}">
                <a16:creationId xmlns:a16="http://schemas.microsoft.com/office/drawing/2014/main" id="{E1FE274F-DBFA-0734-EF15-79892B9379CB}"/>
              </a:ext>
            </a:extLst>
          </p:cNvPr>
          <p:cNvPicPr>
            <a:picLocks noChangeAspect="1"/>
          </p:cNvPicPr>
          <p:nvPr/>
        </p:nvPicPr>
        <p:blipFill>
          <a:blip r:embed="rId2"/>
          <a:stretch>
            <a:fillRect/>
          </a:stretch>
        </p:blipFill>
        <p:spPr>
          <a:xfrm rot="16200000">
            <a:off x="6420986" y="459457"/>
            <a:ext cx="4899135" cy="6642894"/>
          </a:xfrm>
          <a:prstGeom prst="rect">
            <a:avLst/>
          </a:prstGeom>
        </p:spPr>
      </p:pic>
      <p:sp>
        <p:nvSpPr>
          <p:cNvPr id="6" name="TextBox 5">
            <a:extLst>
              <a:ext uri="{FF2B5EF4-FFF2-40B4-BE49-F238E27FC236}">
                <a16:creationId xmlns:a16="http://schemas.microsoft.com/office/drawing/2014/main" id="{B2F9E69A-50C3-6703-D53F-6D0E1BA8D847}"/>
              </a:ext>
            </a:extLst>
          </p:cNvPr>
          <p:cNvSpPr txBox="1"/>
          <p:nvPr/>
        </p:nvSpPr>
        <p:spPr>
          <a:xfrm>
            <a:off x="502024" y="2133600"/>
            <a:ext cx="3730508" cy="2031325"/>
          </a:xfrm>
          <a:prstGeom prst="rect">
            <a:avLst/>
          </a:prstGeom>
          <a:noFill/>
        </p:spPr>
        <p:txBody>
          <a:bodyPr wrap="none" rtlCol="0">
            <a:spAutoFit/>
          </a:bodyPr>
          <a:lstStyle/>
          <a:p>
            <a:pPr marL="285750" indent="-285750">
              <a:buFont typeface="Wingdings" panose="05000000000000000000" pitchFamily="2" charset="2"/>
              <a:buChar char="ü"/>
            </a:pPr>
            <a:r>
              <a:rPr lang="en-US" b="1" dirty="0">
                <a:solidFill>
                  <a:schemeClr val="bg1">
                    <a:lumMod val="95000"/>
                  </a:schemeClr>
                </a:solidFill>
              </a:rPr>
              <a:t>Trig </a:t>
            </a:r>
            <a:r>
              <a:rPr lang="en-US" b="1" dirty="0">
                <a:solidFill>
                  <a:schemeClr val="bg1">
                    <a:lumMod val="95000"/>
                  </a:schemeClr>
                </a:solidFill>
                <a:sym typeface="Wingdings" panose="05000000000000000000" pitchFamily="2" charset="2"/>
              </a:rPr>
              <a:t> 21 GPIO  pin  (40</a:t>
            </a:r>
            <a:r>
              <a:rPr lang="en-US" b="1" baseline="30000" dirty="0">
                <a:solidFill>
                  <a:schemeClr val="bg1">
                    <a:lumMod val="95000"/>
                  </a:schemeClr>
                </a:solidFill>
                <a:sym typeface="Wingdings" panose="05000000000000000000" pitchFamily="2" charset="2"/>
              </a:rPr>
              <a:t>th</a:t>
            </a:r>
            <a:r>
              <a:rPr lang="en-US" b="1" dirty="0">
                <a:solidFill>
                  <a:schemeClr val="bg1">
                    <a:lumMod val="95000"/>
                  </a:schemeClr>
                </a:solidFill>
                <a:sym typeface="Wingdings" panose="05000000000000000000" pitchFamily="2" charset="2"/>
              </a:rPr>
              <a:t> pin)</a:t>
            </a:r>
          </a:p>
          <a:p>
            <a:pPr marL="285750" indent="-285750">
              <a:buFont typeface="Wingdings" panose="05000000000000000000" pitchFamily="2" charset="2"/>
              <a:buChar char="ü"/>
            </a:pPr>
            <a:endParaRPr lang="en-US" b="1" dirty="0">
              <a:solidFill>
                <a:schemeClr val="bg1">
                  <a:lumMod val="95000"/>
                </a:schemeClr>
              </a:solidFill>
              <a:sym typeface="Wingdings" panose="05000000000000000000" pitchFamily="2" charset="2"/>
            </a:endParaRPr>
          </a:p>
          <a:p>
            <a:pPr marL="285750" indent="-285750">
              <a:buFont typeface="Wingdings" panose="05000000000000000000" pitchFamily="2" charset="2"/>
              <a:buChar char="ü"/>
            </a:pPr>
            <a:r>
              <a:rPr lang="en-US" b="1" dirty="0">
                <a:solidFill>
                  <a:schemeClr val="bg1">
                    <a:lumMod val="95000"/>
                  </a:schemeClr>
                </a:solidFill>
                <a:sym typeface="Wingdings" panose="05000000000000000000" pitchFamily="2" charset="2"/>
              </a:rPr>
              <a:t>Echo  20 GPIO pin (38</a:t>
            </a:r>
            <a:r>
              <a:rPr lang="en-US" b="1" baseline="30000" dirty="0">
                <a:solidFill>
                  <a:schemeClr val="bg1">
                    <a:lumMod val="95000"/>
                  </a:schemeClr>
                </a:solidFill>
                <a:sym typeface="Wingdings" panose="05000000000000000000" pitchFamily="2" charset="2"/>
              </a:rPr>
              <a:t>th</a:t>
            </a:r>
            <a:r>
              <a:rPr lang="en-US" b="1" dirty="0">
                <a:solidFill>
                  <a:schemeClr val="bg1">
                    <a:lumMod val="95000"/>
                  </a:schemeClr>
                </a:solidFill>
                <a:sym typeface="Wingdings" panose="05000000000000000000" pitchFamily="2" charset="2"/>
              </a:rPr>
              <a:t> pin)</a:t>
            </a:r>
          </a:p>
          <a:p>
            <a:pPr marL="285750" indent="-285750">
              <a:buFont typeface="Wingdings" panose="05000000000000000000" pitchFamily="2" charset="2"/>
              <a:buChar char="ü"/>
            </a:pPr>
            <a:endParaRPr lang="en-US" b="1" dirty="0">
              <a:solidFill>
                <a:schemeClr val="bg1">
                  <a:lumMod val="95000"/>
                </a:schemeClr>
              </a:solidFill>
              <a:sym typeface="Wingdings" panose="05000000000000000000" pitchFamily="2" charset="2"/>
            </a:endParaRPr>
          </a:p>
          <a:p>
            <a:pPr marL="285750" indent="-285750">
              <a:buFont typeface="Wingdings" panose="05000000000000000000" pitchFamily="2" charset="2"/>
              <a:buChar char="ü"/>
            </a:pPr>
            <a:r>
              <a:rPr lang="en-US" b="1" dirty="0">
                <a:solidFill>
                  <a:schemeClr val="bg1">
                    <a:lumMod val="95000"/>
                  </a:schemeClr>
                </a:solidFill>
                <a:sym typeface="Wingdings" panose="05000000000000000000" pitchFamily="2" charset="2"/>
              </a:rPr>
              <a:t>VCC  5V PWR  pin ( 4</a:t>
            </a:r>
            <a:r>
              <a:rPr lang="en-US" b="1" baseline="30000" dirty="0">
                <a:solidFill>
                  <a:schemeClr val="bg1">
                    <a:lumMod val="95000"/>
                  </a:schemeClr>
                </a:solidFill>
                <a:sym typeface="Wingdings" panose="05000000000000000000" pitchFamily="2" charset="2"/>
              </a:rPr>
              <a:t>th</a:t>
            </a:r>
            <a:r>
              <a:rPr lang="en-US" b="1" dirty="0">
                <a:solidFill>
                  <a:schemeClr val="bg1">
                    <a:lumMod val="95000"/>
                  </a:schemeClr>
                </a:solidFill>
                <a:sym typeface="Wingdings" panose="05000000000000000000" pitchFamily="2" charset="2"/>
              </a:rPr>
              <a:t> pin)</a:t>
            </a:r>
          </a:p>
          <a:p>
            <a:pPr marL="285750" indent="-285750">
              <a:buFont typeface="Wingdings" panose="05000000000000000000" pitchFamily="2" charset="2"/>
              <a:buChar char="ü"/>
            </a:pPr>
            <a:endParaRPr lang="en-US" b="1" dirty="0">
              <a:solidFill>
                <a:schemeClr val="bg1">
                  <a:lumMod val="95000"/>
                </a:schemeClr>
              </a:solidFill>
              <a:sym typeface="Wingdings" panose="05000000000000000000" pitchFamily="2" charset="2"/>
            </a:endParaRPr>
          </a:p>
          <a:p>
            <a:pPr marL="285750" indent="-285750">
              <a:buFont typeface="Wingdings" panose="05000000000000000000" pitchFamily="2" charset="2"/>
              <a:buChar char="ü"/>
            </a:pPr>
            <a:r>
              <a:rPr lang="en-US" b="1" dirty="0">
                <a:solidFill>
                  <a:schemeClr val="bg1">
                    <a:lumMod val="95000"/>
                  </a:schemeClr>
                </a:solidFill>
                <a:sym typeface="Wingdings" panose="05000000000000000000" pitchFamily="2" charset="2"/>
              </a:rPr>
              <a:t>GND  GND pin  (6</a:t>
            </a:r>
            <a:r>
              <a:rPr lang="en-US" b="1" baseline="30000" dirty="0">
                <a:solidFill>
                  <a:schemeClr val="bg1">
                    <a:lumMod val="95000"/>
                  </a:schemeClr>
                </a:solidFill>
                <a:sym typeface="Wingdings" panose="05000000000000000000" pitchFamily="2" charset="2"/>
              </a:rPr>
              <a:t>th</a:t>
            </a:r>
            <a:r>
              <a:rPr lang="en-US" b="1" dirty="0">
                <a:solidFill>
                  <a:schemeClr val="bg1">
                    <a:lumMod val="95000"/>
                  </a:schemeClr>
                </a:solidFill>
                <a:sym typeface="Wingdings" panose="05000000000000000000" pitchFamily="2" charset="2"/>
              </a:rPr>
              <a:t> pin)</a:t>
            </a:r>
            <a:endParaRPr lang="en-IN" b="1" dirty="0">
              <a:solidFill>
                <a:schemeClr val="bg1">
                  <a:lumMod val="95000"/>
                </a:schemeClr>
              </a:solidFill>
            </a:endParaRPr>
          </a:p>
        </p:txBody>
      </p:sp>
    </p:spTree>
    <p:extLst>
      <p:ext uri="{BB962C8B-B14F-4D97-AF65-F5344CB8AC3E}">
        <p14:creationId xmlns:p14="http://schemas.microsoft.com/office/powerpoint/2010/main" val="4131246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1405844" y="790580"/>
            <a:ext cx="4385356" cy="859055"/>
          </a:xfrm>
        </p:spPr>
        <p:txBody>
          <a:bodyPr>
            <a:normAutofit/>
          </a:bodyPr>
          <a:lstStyle/>
          <a:p>
            <a:r>
              <a:rPr lang="en-US" sz="3600" dirty="0">
                <a:solidFill>
                  <a:srgbClr val="FFFF00"/>
                </a:solidFill>
              </a:rPr>
              <a:t>Face Recognition</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
        <p:nvSpPr>
          <p:cNvPr id="3" name="TextBox 2">
            <a:extLst>
              <a:ext uri="{FF2B5EF4-FFF2-40B4-BE49-F238E27FC236}">
                <a16:creationId xmlns:a16="http://schemas.microsoft.com/office/drawing/2014/main" id="{F1570F8A-4D2F-CC0C-849D-05EA68BACB4A}"/>
              </a:ext>
            </a:extLst>
          </p:cNvPr>
          <p:cNvSpPr txBox="1"/>
          <p:nvPr/>
        </p:nvSpPr>
        <p:spPr>
          <a:xfrm>
            <a:off x="2464390" y="1290918"/>
            <a:ext cx="2995115" cy="2222403"/>
          </a:xfrm>
          <a:prstGeom prst="rect">
            <a:avLst/>
          </a:prstGeom>
          <a:noFill/>
        </p:spPr>
        <p:txBody>
          <a:bodyPr wrap="square" rtlCol="0">
            <a:spAutoFit/>
          </a:bodyPr>
          <a:lstStyle/>
          <a:p>
            <a:pPr>
              <a:lnSpc>
                <a:spcPct val="200000"/>
              </a:lnSpc>
            </a:pPr>
            <a:endParaRPr lang="en-US" b="1" dirty="0">
              <a:solidFill>
                <a:schemeClr val="bg1"/>
              </a:solidFill>
            </a:endParaRPr>
          </a:p>
          <a:p>
            <a:pPr marL="285750" indent="-285750">
              <a:lnSpc>
                <a:spcPct val="200000"/>
              </a:lnSpc>
              <a:buFont typeface="Wingdings" panose="05000000000000000000" pitchFamily="2" charset="2"/>
              <a:buChar char="Ø"/>
            </a:pPr>
            <a:r>
              <a:rPr lang="en-US" b="1" dirty="0">
                <a:solidFill>
                  <a:schemeClr val="bg1"/>
                </a:solidFill>
              </a:rPr>
              <a:t>Connection</a:t>
            </a:r>
          </a:p>
          <a:p>
            <a:pPr marL="285750" indent="-285750">
              <a:lnSpc>
                <a:spcPct val="200000"/>
              </a:lnSpc>
              <a:buFont typeface="Wingdings" panose="05000000000000000000" pitchFamily="2" charset="2"/>
              <a:buChar char="Ø"/>
            </a:pPr>
            <a:r>
              <a:rPr lang="en-US" b="1" dirty="0">
                <a:solidFill>
                  <a:schemeClr val="bg1"/>
                </a:solidFill>
              </a:rPr>
              <a:t>Overall Connection</a:t>
            </a:r>
          </a:p>
          <a:p>
            <a:pPr marL="285750" indent="-285750">
              <a:lnSpc>
                <a:spcPct val="200000"/>
              </a:lnSpc>
              <a:buFont typeface="Wingdings" panose="05000000000000000000" pitchFamily="2" charset="2"/>
              <a:buChar char="Ø"/>
            </a:pPr>
            <a:r>
              <a:rPr lang="en-US" b="1" dirty="0">
                <a:solidFill>
                  <a:schemeClr val="bg1"/>
                </a:solidFill>
              </a:rPr>
              <a:t>The Smart Eye Glass</a:t>
            </a:r>
          </a:p>
        </p:txBody>
      </p:sp>
    </p:spTree>
    <p:extLst>
      <p:ext uri="{BB962C8B-B14F-4D97-AF65-F5344CB8AC3E}">
        <p14:creationId xmlns:p14="http://schemas.microsoft.com/office/powerpoint/2010/main" val="1417009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6BD5-F9A9-12A8-C606-B1C89B60910C}"/>
              </a:ext>
            </a:extLst>
          </p:cNvPr>
          <p:cNvSpPr>
            <a:spLocks noGrp="1"/>
          </p:cNvSpPr>
          <p:nvPr/>
        </p:nvSpPr>
        <p:spPr>
          <a:xfrm>
            <a:off x="331694" y="859149"/>
            <a:ext cx="6660777" cy="472187"/>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dirty="0">
                <a:solidFill>
                  <a:srgbClr val="FFFF00"/>
                </a:solidFill>
                <a:latin typeface="Arial" panose="020B0604020202020204" pitchFamily="34" charset="0"/>
                <a:cs typeface="Arial" panose="020B0604020202020204" pitchFamily="34" charset="0"/>
              </a:rPr>
              <a:t>Camera with Raspberry Pi3</a:t>
            </a:r>
            <a:endParaRPr lang="en-US" sz="2400" dirty="0">
              <a:solidFill>
                <a:srgbClr val="FFFF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7C573D3-92BF-F0BA-BAEC-3D0F0C805FB2}"/>
              </a:ext>
            </a:extLst>
          </p:cNvPr>
          <p:cNvSpPr txBox="1"/>
          <p:nvPr/>
        </p:nvSpPr>
        <p:spPr>
          <a:xfrm>
            <a:off x="1963271" y="71718"/>
            <a:ext cx="2436886" cy="584775"/>
          </a:xfrm>
          <a:prstGeom prst="rect">
            <a:avLst/>
          </a:prstGeom>
          <a:noFill/>
        </p:spPr>
        <p:txBody>
          <a:bodyPr wrap="none" rtlCol="0">
            <a:spAutoFit/>
          </a:bodyPr>
          <a:lstStyle/>
          <a:p>
            <a:r>
              <a:rPr lang="en-US" sz="3200" b="1" dirty="0">
                <a:solidFill>
                  <a:schemeClr val="accent6"/>
                </a:solidFill>
              </a:rPr>
              <a:t>Connection</a:t>
            </a:r>
            <a:endParaRPr lang="en-IN" sz="3200" b="1" dirty="0">
              <a:solidFill>
                <a:schemeClr val="accent6"/>
              </a:solidFill>
            </a:endParaRPr>
          </a:p>
        </p:txBody>
      </p:sp>
      <p:pic>
        <p:nvPicPr>
          <p:cNvPr id="5" name="Picture 4">
            <a:extLst>
              <a:ext uri="{FF2B5EF4-FFF2-40B4-BE49-F238E27FC236}">
                <a16:creationId xmlns:a16="http://schemas.microsoft.com/office/drawing/2014/main" id="{149D7F8C-9FB4-06A0-922A-8341DA84BBFA}"/>
              </a:ext>
            </a:extLst>
          </p:cNvPr>
          <p:cNvPicPr>
            <a:picLocks noChangeAspect="1"/>
          </p:cNvPicPr>
          <p:nvPr/>
        </p:nvPicPr>
        <p:blipFill>
          <a:blip r:embed="rId2"/>
          <a:stretch>
            <a:fillRect/>
          </a:stretch>
        </p:blipFill>
        <p:spPr>
          <a:xfrm rot="16200000">
            <a:off x="3829050" y="514428"/>
            <a:ext cx="4901454" cy="6535271"/>
          </a:xfrm>
          <a:prstGeom prst="rect">
            <a:avLst/>
          </a:prstGeom>
        </p:spPr>
      </p:pic>
    </p:spTree>
    <p:extLst>
      <p:ext uri="{BB962C8B-B14F-4D97-AF65-F5344CB8AC3E}">
        <p14:creationId xmlns:p14="http://schemas.microsoft.com/office/powerpoint/2010/main" val="1801561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CC5CB981-F22C-CD14-6CB6-422ACDD20F15}"/>
              </a:ext>
            </a:extLst>
          </p:cNvPr>
          <p:cNvSpPr>
            <a:spLocks noGrp="1"/>
          </p:cNvSpPr>
          <p:nvPr>
            <p:ph type="title"/>
          </p:nvPr>
        </p:nvSpPr>
        <p:spPr>
          <a:xfrm>
            <a:off x="1253444" y="216839"/>
            <a:ext cx="4385356" cy="859055"/>
          </a:xfrm>
        </p:spPr>
        <p:txBody>
          <a:bodyPr>
            <a:normAutofit/>
          </a:bodyPr>
          <a:lstStyle/>
          <a:p>
            <a:r>
              <a:rPr lang="en-US" sz="3600" dirty="0">
                <a:solidFill>
                  <a:srgbClr val="FFFF00"/>
                </a:solidFill>
              </a:rPr>
              <a:t>Overall Connection</a:t>
            </a:r>
          </a:p>
        </p:txBody>
      </p:sp>
      <p:pic>
        <p:nvPicPr>
          <p:cNvPr id="16" name="Picture 15">
            <a:extLst>
              <a:ext uri="{FF2B5EF4-FFF2-40B4-BE49-F238E27FC236}">
                <a16:creationId xmlns:a16="http://schemas.microsoft.com/office/drawing/2014/main" id="{09303370-DEF0-451D-47C3-CFF705043481}"/>
              </a:ext>
            </a:extLst>
          </p:cNvPr>
          <p:cNvPicPr>
            <a:picLocks noChangeAspect="1"/>
          </p:cNvPicPr>
          <p:nvPr/>
        </p:nvPicPr>
        <p:blipFill>
          <a:blip r:embed="rId2"/>
          <a:stretch>
            <a:fillRect/>
          </a:stretch>
        </p:blipFill>
        <p:spPr>
          <a:xfrm rot="16200000">
            <a:off x="6017102" y="466263"/>
            <a:ext cx="5292769" cy="7057026"/>
          </a:xfrm>
          <a:prstGeom prst="rect">
            <a:avLst/>
          </a:prstGeom>
        </p:spPr>
      </p:pic>
      <p:sp>
        <p:nvSpPr>
          <p:cNvPr id="17" name="TextBox 16">
            <a:extLst>
              <a:ext uri="{FF2B5EF4-FFF2-40B4-BE49-F238E27FC236}">
                <a16:creationId xmlns:a16="http://schemas.microsoft.com/office/drawing/2014/main" id="{56A8BA27-CC62-88B8-F00B-F912562884DC}"/>
              </a:ext>
            </a:extLst>
          </p:cNvPr>
          <p:cNvSpPr txBox="1"/>
          <p:nvPr/>
        </p:nvSpPr>
        <p:spPr>
          <a:xfrm>
            <a:off x="143435" y="2169459"/>
            <a:ext cx="4670612" cy="872034"/>
          </a:xfrm>
          <a:prstGeom prst="rect">
            <a:avLst/>
          </a:prstGeom>
          <a:noFill/>
        </p:spPr>
        <p:txBody>
          <a:bodyPr wrap="square" rtlCol="0">
            <a:spAutoFit/>
          </a:bodyPr>
          <a:lstStyle/>
          <a:p>
            <a:pPr>
              <a:lnSpc>
                <a:spcPct val="150000"/>
              </a:lnSpc>
            </a:pPr>
            <a:r>
              <a:rPr lang="en-US" b="1" dirty="0">
                <a:solidFill>
                  <a:schemeClr val="bg1"/>
                </a:solidFill>
              </a:rPr>
              <a:t>Finally, the sensor HC-SR04   and the camera are connected to Raspberry Pi3</a:t>
            </a:r>
            <a:endParaRPr lang="en-IN" b="1" dirty="0">
              <a:solidFill>
                <a:schemeClr val="bg1"/>
              </a:solidFill>
            </a:endParaRPr>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CC5CB981-F22C-CD14-6CB6-422ACDD20F15}"/>
              </a:ext>
            </a:extLst>
          </p:cNvPr>
          <p:cNvSpPr>
            <a:spLocks noGrp="1"/>
          </p:cNvSpPr>
          <p:nvPr>
            <p:ph type="title"/>
          </p:nvPr>
        </p:nvSpPr>
        <p:spPr>
          <a:xfrm>
            <a:off x="1253444" y="216839"/>
            <a:ext cx="4385356" cy="859055"/>
          </a:xfrm>
        </p:spPr>
        <p:txBody>
          <a:bodyPr>
            <a:normAutofit/>
          </a:bodyPr>
          <a:lstStyle/>
          <a:p>
            <a:r>
              <a:rPr lang="en-US" sz="3600" dirty="0">
                <a:solidFill>
                  <a:srgbClr val="FFFF00"/>
                </a:solidFill>
              </a:rPr>
              <a:t>The Smart Eye Glass</a:t>
            </a:r>
          </a:p>
        </p:txBody>
      </p:sp>
      <p:pic>
        <p:nvPicPr>
          <p:cNvPr id="3" name="Picture 2">
            <a:extLst>
              <a:ext uri="{FF2B5EF4-FFF2-40B4-BE49-F238E27FC236}">
                <a16:creationId xmlns:a16="http://schemas.microsoft.com/office/drawing/2014/main" id="{03EE2340-A338-0A6F-C003-87698B33F6D4}"/>
              </a:ext>
            </a:extLst>
          </p:cNvPr>
          <p:cNvPicPr>
            <a:picLocks noChangeAspect="1"/>
          </p:cNvPicPr>
          <p:nvPr/>
        </p:nvPicPr>
        <p:blipFill>
          <a:blip r:embed="rId2"/>
          <a:stretch>
            <a:fillRect/>
          </a:stretch>
        </p:blipFill>
        <p:spPr>
          <a:xfrm>
            <a:off x="2743199" y="1371600"/>
            <a:ext cx="6777316" cy="5082987"/>
          </a:xfrm>
          <a:prstGeom prst="rect">
            <a:avLst/>
          </a:prstGeom>
        </p:spPr>
      </p:pic>
    </p:spTree>
    <p:extLst>
      <p:ext uri="{BB962C8B-B14F-4D97-AF65-F5344CB8AC3E}">
        <p14:creationId xmlns:p14="http://schemas.microsoft.com/office/powerpoint/2010/main" val="740959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1604682" y="84216"/>
            <a:ext cx="2433171" cy="535531"/>
          </a:xfrm>
        </p:spPr>
        <p:txBody>
          <a:bodyPr/>
          <a:lstStyle/>
          <a:p>
            <a:r>
              <a:rPr lang="en-US" dirty="0">
                <a:solidFill>
                  <a:srgbClr val="FFFF00"/>
                </a:solidFill>
              </a:rPr>
              <a:t>Limitations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15</a:t>
            </a:fld>
            <a:endParaRPr lang="en-US" dirty="0"/>
          </a:p>
        </p:txBody>
      </p:sp>
      <p:pic>
        <p:nvPicPr>
          <p:cNvPr id="3" name="Picture 2">
            <a:extLst>
              <a:ext uri="{FF2B5EF4-FFF2-40B4-BE49-F238E27FC236}">
                <a16:creationId xmlns:a16="http://schemas.microsoft.com/office/drawing/2014/main" id="{D50FEF40-1010-8EC4-9956-ABF6986A14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4112" y="851653"/>
            <a:ext cx="8447888" cy="5620871"/>
          </a:xfrm>
          <a:prstGeom prst="rect">
            <a:avLst/>
          </a:prstGeom>
          <a:effectLst>
            <a:innerShdw blurRad="114300">
              <a:prstClr val="black"/>
            </a:innerShdw>
          </a:effectLst>
        </p:spPr>
      </p:pic>
      <p:sp>
        <p:nvSpPr>
          <p:cNvPr id="5" name="TextBox 4">
            <a:extLst>
              <a:ext uri="{FF2B5EF4-FFF2-40B4-BE49-F238E27FC236}">
                <a16:creationId xmlns:a16="http://schemas.microsoft.com/office/drawing/2014/main" id="{24F211D3-77D4-B2CF-F8F6-26E00FF6BE3A}"/>
              </a:ext>
            </a:extLst>
          </p:cNvPr>
          <p:cNvSpPr txBox="1"/>
          <p:nvPr/>
        </p:nvSpPr>
        <p:spPr>
          <a:xfrm>
            <a:off x="170329" y="2563914"/>
            <a:ext cx="3352799" cy="3724096"/>
          </a:xfrm>
          <a:prstGeom prst="rect">
            <a:avLst/>
          </a:prstGeom>
          <a:solidFill>
            <a:schemeClr val="accent2">
              <a:lumMod val="20000"/>
              <a:lumOff val="80000"/>
            </a:schemeClr>
          </a:solidFill>
          <a:effectLst>
            <a:innerShdw blurRad="114300">
              <a:prstClr val="black"/>
            </a:innerShdw>
          </a:effectLst>
        </p:spPr>
        <p:txBody>
          <a:bodyPr wrap="square" rtlCol="0">
            <a:spAutoFit/>
          </a:bodyPr>
          <a:lstStyle/>
          <a:p>
            <a:r>
              <a:rPr lang="en-US" sz="2800" b="1" dirty="0">
                <a:solidFill>
                  <a:schemeClr val="accent5">
                    <a:lumMod val="75000"/>
                  </a:schemeClr>
                </a:solidFill>
                <a:latin typeface="Arial" panose="020B0604020202020204" pitchFamily="34" charset="0"/>
                <a:cs typeface="Arial" panose="020B0604020202020204" pitchFamily="34" charset="0"/>
              </a:rPr>
              <a:t>In the Following 4   cases:</a:t>
            </a:r>
          </a:p>
          <a:p>
            <a:endParaRPr lang="en-US" dirty="0"/>
          </a:p>
          <a:p>
            <a:pPr marL="400050" indent="-400050">
              <a:buFont typeface="+mj-lt"/>
              <a:buAutoNum type="romanLcPeriod"/>
            </a:pPr>
            <a:r>
              <a:rPr lang="en-US" b="1" dirty="0">
                <a:solidFill>
                  <a:srgbClr val="002060"/>
                </a:solidFill>
                <a:latin typeface="Arial" panose="020B0604020202020204" pitchFamily="34" charset="0"/>
                <a:cs typeface="Arial" panose="020B0604020202020204" pitchFamily="34" charset="0"/>
              </a:rPr>
              <a:t>Object is too far away</a:t>
            </a:r>
          </a:p>
          <a:p>
            <a:pPr marL="400050" indent="-400050">
              <a:buFont typeface="+mj-lt"/>
              <a:buAutoNum type="romanLcPeriod"/>
            </a:pPr>
            <a:endParaRPr lang="en-US" b="1" dirty="0">
              <a:solidFill>
                <a:srgbClr val="002060"/>
              </a:solidFill>
              <a:latin typeface="Arial" panose="020B0604020202020204" pitchFamily="34" charset="0"/>
              <a:cs typeface="Arial" panose="020B0604020202020204" pitchFamily="34" charset="0"/>
            </a:endParaRPr>
          </a:p>
          <a:p>
            <a:pPr marL="400050" indent="-400050">
              <a:buFont typeface="+mj-lt"/>
              <a:buAutoNum type="romanLcPeriod"/>
            </a:pPr>
            <a:r>
              <a:rPr lang="en-US" b="1" dirty="0">
                <a:solidFill>
                  <a:srgbClr val="002060"/>
                </a:solidFill>
                <a:latin typeface="Arial" panose="020B0604020202020204" pitchFamily="34" charset="0"/>
                <a:cs typeface="Arial" panose="020B0604020202020204" pitchFamily="34" charset="0"/>
              </a:rPr>
              <a:t>Flat object is not facing sensor</a:t>
            </a:r>
          </a:p>
          <a:p>
            <a:pPr marL="400050" indent="-400050">
              <a:buFont typeface="+mj-lt"/>
              <a:buAutoNum type="romanLcPeriod"/>
            </a:pPr>
            <a:endParaRPr lang="en-US" b="1" dirty="0">
              <a:solidFill>
                <a:srgbClr val="002060"/>
              </a:solidFill>
              <a:latin typeface="Arial" panose="020B0604020202020204" pitchFamily="34" charset="0"/>
              <a:cs typeface="Arial" panose="020B0604020202020204" pitchFamily="34" charset="0"/>
            </a:endParaRPr>
          </a:p>
          <a:p>
            <a:pPr marL="400050" indent="-400050">
              <a:buFont typeface="+mj-lt"/>
              <a:buAutoNum type="romanLcPeriod"/>
            </a:pPr>
            <a:r>
              <a:rPr lang="en-US" b="1" dirty="0">
                <a:solidFill>
                  <a:srgbClr val="002060"/>
                </a:solidFill>
                <a:latin typeface="Arial" panose="020B0604020202020204" pitchFamily="34" charset="0"/>
                <a:cs typeface="Arial" panose="020B0604020202020204" pitchFamily="34" charset="0"/>
              </a:rPr>
              <a:t>Object is too small</a:t>
            </a:r>
          </a:p>
          <a:p>
            <a:pPr marL="400050" indent="-400050">
              <a:buFont typeface="+mj-lt"/>
              <a:buAutoNum type="romanLcPeriod"/>
            </a:pPr>
            <a:endParaRPr lang="en-US" b="1" dirty="0">
              <a:solidFill>
                <a:srgbClr val="002060"/>
              </a:solidFill>
              <a:latin typeface="Arial" panose="020B0604020202020204" pitchFamily="34" charset="0"/>
              <a:cs typeface="Arial" panose="020B0604020202020204" pitchFamily="34" charset="0"/>
            </a:endParaRPr>
          </a:p>
          <a:p>
            <a:pPr marL="400050" indent="-400050">
              <a:buFont typeface="+mj-lt"/>
              <a:buAutoNum type="romanLcPeriod"/>
            </a:pPr>
            <a:r>
              <a:rPr lang="en-US" b="1" dirty="0">
                <a:solidFill>
                  <a:srgbClr val="002060"/>
                </a:solidFill>
                <a:latin typeface="Arial" panose="020B0604020202020204" pitchFamily="34" charset="0"/>
                <a:cs typeface="Arial" panose="020B0604020202020204" pitchFamily="34" charset="0"/>
              </a:rPr>
              <a:t>Object is too soft</a:t>
            </a:r>
          </a:p>
          <a:p>
            <a:r>
              <a:rPr lang="en-US" dirty="0"/>
              <a:t>  </a:t>
            </a:r>
            <a:endParaRPr lang="en-IN" dirty="0"/>
          </a:p>
        </p:txBody>
      </p:sp>
      <p:sp>
        <p:nvSpPr>
          <p:cNvPr id="6" name="TextBox 5">
            <a:extLst>
              <a:ext uri="{FF2B5EF4-FFF2-40B4-BE49-F238E27FC236}">
                <a16:creationId xmlns:a16="http://schemas.microsoft.com/office/drawing/2014/main" id="{59C33730-31A8-E334-3CC0-11949FA22D68}"/>
              </a:ext>
            </a:extLst>
          </p:cNvPr>
          <p:cNvSpPr txBox="1"/>
          <p:nvPr/>
        </p:nvSpPr>
        <p:spPr>
          <a:xfrm>
            <a:off x="5208494" y="2761135"/>
            <a:ext cx="887506" cy="369332"/>
          </a:xfrm>
          <a:prstGeom prst="rect">
            <a:avLst/>
          </a:prstGeom>
          <a:noFill/>
        </p:spPr>
        <p:txBody>
          <a:bodyPr wrap="square" rtlCol="0">
            <a:spAutoFit/>
          </a:bodyPr>
          <a:lstStyle/>
          <a:p>
            <a:r>
              <a:rPr lang="en-US" b="1" dirty="0">
                <a:solidFill>
                  <a:schemeClr val="accent3">
                    <a:lumMod val="75000"/>
                  </a:schemeClr>
                </a:solidFill>
                <a:latin typeface="Arial" panose="020B0604020202020204" pitchFamily="34" charset="0"/>
                <a:cs typeface="Arial" panose="020B0604020202020204" pitchFamily="34" charset="0"/>
              </a:rPr>
              <a:t>Case i</a:t>
            </a:r>
            <a:endParaRPr lang="en-IN" b="1" dirty="0">
              <a:solidFill>
                <a:schemeClr val="accent3">
                  <a:lumMod val="7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FCAE456-A3D6-8C14-2153-09FF048B4064}"/>
              </a:ext>
            </a:extLst>
          </p:cNvPr>
          <p:cNvSpPr txBox="1"/>
          <p:nvPr/>
        </p:nvSpPr>
        <p:spPr>
          <a:xfrm>
            <a:off x="6729335" y="2945801"/>
            <a:ext cx="928459" cy="369332"/>
          </a:xfrm>
          <a:prstGeom prst="rect">
            <a:avLst/>
          </a:prstGeom>
          <a:noFill/>
        </p:spPr>
        <p:txBody>
          <a:bodyPr wrap="none" rtlCol="0">
            <a:spAutoFit/>
          </a:bodyPr>
          <a:lstStyle/>
          <a:p>
            <a:r>
              <a:rPr lang="en-US" b="1" dirty="0">
                <a:solidFill>
                  <a:schemeClr val="accent3">
                    <a:lumMod val="75000"/>
                  </a:schemeClr>
                </a:solidFill>
                <a:latin typeface="Arial" panose="020B0604020202020204" pitchFamily="34" charset="0"/>
                <a:cs typeface="Arial" panose="020B0604020202020204" pitchFamily="34" charset="0"/>
              </a:rPr>
              <a:t>Case ii</a:t>
            </a:r>
            <a:endParaRPr lang="en-IN" b="1" dirty="0">
              <a:solidFill>
                <a:schemeClr val="accent3">
                  <a:lumMod val="75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CEA3086-3158-505C-61C2-A63122F322FE}"/>
              </a:ext>
            </a:extLst>
          </p:cNvPr>
          <p:cNvSpPr txBox="1"/>
          <p:nvPr/>
        </p:nvSpPr>
        <p:spPr>
          <a:xfrm>
            <a:off x="10542494" y="3890688"/>
            <a:ext cx="992579" cy="369332"/>
          </a:xfrm>
          <a:prstGeom prst="rect">
            <a:avLst/>
          </a:prstGeom>
          <a:noFill/>
        </p:spPr>
        <p:txBody>
          <a:bodyPr wrap="none" rtlCol="0">
            <a:spAutoFit/>
          </a:bodyPr>
          <a:lstStyle/>
          <a:p>
            <a:r>
              <a:rPr lang="en-US" b="1" dirty="0">
                <a:solidFill>
                  <a:schemeClr val="accent3">
                    <a:lumMod val="75000"/>
                  </a:schemeClr>
                </a:solidFill>
                <a:latin typeface="Arial" panose="020B0604020202020204" pitchFamily="34" charset="0"/>
                <a:cs typeface="Arial" panose="020B0604020202020204" pitchFamily="34" charset="0"/>
              </a:rPr>
              <a:t>Case iii</a:t>
            </a:r>
            <a:endParaRPr lang="en-IN" b="1" dirty="0">
              <a:solidFill>
                <a:schemeClr val="accent3">
                  <a:lumMod val="75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FBA58515-154D-245B-5980-442FDC88BBE7}"/>
              </a:ext>
            </a:extLst>
          </p:cNvPr>
          <p:cNvSpPr txBox="1"/>
          <p:nvPr/>
        </p:nvSpPr>
        <p:spPr>
          <a:xfrm>
            <a:off x="7871011" y="5934641"/>
            <a:ext cx="987771" cy="369332"/>
          </a:xfrm>
          <a:prstGeom prst="rect">
            <a:avLst/>
          </a:prstGeom>
          <a:noFill/>
        </p:spPr>
        <p:txBody>
          <a:bodyPr wrap="none" rtlCol="0">
            <a:spAutoFit/>
          </a:bodyPr>
          <a:lstStyle/>
          <a:p>
            <a:r>
              <a:rPr lang="en-US" b="1" dirty="0">
                <a:solidFill>
                  <a:schemeClr val="accent3">
                    <a:lumMod val="75000"/>
                  </a:schemeClr>
                </a:solidFill>
                <a:latin typeface="Arial" panose="020B0604020202020204" pitchFamily="34" charset="0"/>
                <a:cs typeface="Arial" panose="020B0604020202020204" pitchFamily="34" charset="0"/>
              </a:rPr>
              <a:t>Case iv</a:t>
            </a:r>
            <a:endParaRPr lang="en-IN" b="1" dirty="0">
              <a:solidFill>
                <a:schemeClr val="accent3">
                  <a:lumMod val="75000"/>
                </a:schemeClr>
              </a:solidFill>
              <a:latin typeface="Arial" panose="020B0604020202020204" pitchFamily="34" charset="0"/>
              <a:cs typeface="Arial" panose="020B0604020202020204" pitchFamily="34" charset="0"/>
            </a:endParaRPr>
          </a:p>
        </p:txBody>
      </p:sp>
      <p:sp>
        <p:nvSpPr>
          <p:cNvPr id="10" name="Arrow: Bent 9">
            <a:extLst>
              <a:ext uri="{FF2B5EF4-FFF2-40B4-BE49-F238E27FC236}">
                <a16:creationId xmlns:a16="http://schemas.microsoft.com/office/drawing/2014/main" id="{C4969C46-7823-0FD5-D50E-CC6F89FA91E4}"/>
              </a:ext>
            </a:extLst>
          </p:cNvPr>
          <p:cNvSpPr/>
          <p:nvPr/>
        </p:nvSpPr>
        <p:spPr>
          <a:xfrm>
            <a:off x="1604682" y="923371"/>
            <a:ext cx="2139430" cy="1640543"/>
          </a:xfrm>
          <a:prstGeom prst="bentArrow">
            <a:avLst>
              <a:gd name="adj1" fmla="val 9699"/>
              <a:gd name="adj2" fmla="val 10793"/>
              <a:gd name="adj3" fmla="val 18989"/>
              <a:gd name="adj4" fmla="val 4375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754782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1914712" y="238125"/>
            <a:ext cx="2433171" cy="535531"/>
          </a:xfrm>
        </p:spPr>
        <p:txBody>
          <a:bodyPr/>
          <a:lstStyle/>
          <a:p>
            <a:r>
              <a:rPr lang="en-US" dirty="0">
                <a:solidFill>
                  <a:srgbClr val="FFFF00"/>
                </a:solidFill>
              </a:rPr>
              <a:t>References</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16</a:t>
            </a:fld>
            <a:endParaRPr lang="en-US" dirty="0"/>
          </a:p>
        </p:txBody>
      </p:sp>
      <p:sp>
        <p:nvSpPr>
          <p:cNvPr id="5" name="TextBox 4">
            <a:extLst>
              <a:ext uri="{FF2B5EF4-FFF2-40B4-BE49-F238E27FC236}">
                <a16:creationId xmlns:a16="http://schemas.microsoft.com/office/drawing/2014/main" id="{4B1F28F4-8087-61DF-7617-5BBFE20B8F10}"/>
              </a:ext>
            </a:extLst>
          </p:cNvPr>
          <p:cNvSpPr txBox="1"/>
          <p:nvPr/>
        </p:nvSpPr>
        <p:spPr>
          <a:xfrm>
            <a:off x="277904" y="1513761"/>
            <a:ext cx="10793507" cy="5078313"/>
          </a:xfrm>
          <a:prstGeom prst="rect">
            <a:avLst/>
          </a:prstGeom>
          <a:noFill/>
        </p:spPr>
        <p:txBody>
          <a:bodyPr wrap="square">
            <a:spAutoFit/>
          </a:bodyPr>
          <a:lstStyle/>
          <a:p>
            <a:r>
              <a:rPr lang="en-US" dirty="0">
                <a:solidFill>
                  <a:schemeClr val="bg1"/>
                </a:solidFill>
              </a:rPr>
              <a:t>[1] https://www.who.int/news-room/fact-sheets/detail/blindness-andvisualimpairment#:~:text=Globally%2C%20at%20least%202.2%20billi on,near%20or%20distance%20vision%20impairment.</a:t>
            </a:r>
          </a:p>
          <a:p>
            <a:endParaRPr lang="en-US" dirty="0">
              <a:solidFill>
                <a:schemeClr val="bg1"/>
              </a:solidFill>
            </a:endParaRPr>
          </a:p>
          <a:p>
            <a:r>
              <a:rPr lang="en-US" dirty="0">
                <a:solidFill>
                  <a:schemeClr val="bg1"/>
                </a:solidFill>
              </a:rPr>
              <a:t> [2] Ultrasonic Smart Spectacles for Visually Impaired and Blind People </a:t>
            </a:r>
          </a:p>
          <a:p>
            <a:r>
              <a:rPr lang="en-US" dirty="0">
                <a:solidFill>
                  <a:schemeClr val="bg1"/>
                </a:solidFill>
              </a:rPr>
              <a:t> Authors: L. </a:t>
            </a:r>
            <a:r>
              <a:rPr lang="en-US" dirty="0" err="1">
                <a:solidFill>
                  <a:schemeClr val="bg1"/>
                </a:solidFill>
              </a:rPr>
              <a:t>Shashitha</a:t>
            </a:r>
            <a:r>
              <a:rPr lang="en-US" dirty="0">
                <a:solidFill>
                  <a:schemeClr val="bg1"/>
                </a:solidFill>
              </a:rPr>
              <a:t> (Department of Electronics and Communication Engineering, Institute of </a:t>
            </a:r>
            <a:r>
              <a:rPr lang="en-US" dirty="0" err="1">
                <a:solidFill>
                  <a:schemeClr val="bg1"/>
                </a:solidFill>
              </a:rPr>
              <a:t>Aeronatical</a:t>
            </a:r>
            <a:r>
              <a:rPr lang="en-US" dirty="0">
                <a:solidFill>
                  <a:schemeClr val="bg1"/>
                </a:solidFill>
              </a:rPr>
              <a:t> Engineering College </a:t>
            </a:r>
            <a:r>
              <a:rPr lang="en-US" dirty="0" err="1">
                <a:solidFill>
                  <a:schemeClr val="bg1"/>
                </a:solidFill>
              </a:rPr>
              <a:t>Dundigal</a:t>
            </a:r>
            <a:r>
              <a:rPr lang="en-US" dirty="0">
                <a:solidFill>
                  <a:schemeClr val="bg1"/>
                </a:solidFill>
              </a:rPr>
              <a:t>, Hyderabad, Telangana) P. Ashok Babu (Department of Electronics and Communication Engineering, Institute of </a:t>
            </a:r>
            <a:r>
              <a:rPr lang="en-US" dirty="0" err="1">
                <a:solidFill>
                  <a:schemeClr val="bg1"/>
                </a:solidFill>
              </a:rPr>
              <a:t>Aeronatical</a:t>
            </a:r>
            <a:r>
              <a:rPr lang="en-US" dirty="0">
                <a:solidFill>
                  <a:schemeClr val="bg1"/>
                </a:solidFill>
              </a:rPr>
              <a:t> Engineering College </a:t>
            </a:r>
            <a:r>
              <a:rPr lang="en-US" dirty="0" err="1">
                <a:solidFill>
                  <a:schemeClr val="bg1"/>
                </a:solidFill>
              </a:rPr>
              <a:t>Dundigal</a:t>
            </a:r>
            <a:r>
              <a:rPr lang="en-US" dirty="0">
                <a:solidFill>
                  <a:schemeClr val="bg1"/>
                </a:solidFill>
              </a:rPr>
              <a:t>, Hyderabad, Telangana) </a:t>
            </a:r>
          </a:p>
          <a:p>
            <a:r>
              <a:rPr lang="en-US" dirty="0">
                <a:solidFill>
                  <a:schemeClr val="bg1"/>
                </a:solidFill>
              </a:rPr>
              <a:t>Published in: 2021 3rd International Conference on Advances in Computing, Communication Control and Networking (ICAC3N) </a:t>
            </a:r>
          </a:p>
          <a:p>
            <a:r>
              <a:rPr lang="en-US" dirty="0">
                <a:solidFill>
                  <a:schemeClr val="bg1"/>
                </a:solidFill>
              </a:rPr>
              <a:t>Date of Conference: 17-18 December 2021 Date Added to IEEE Xplore: 09 March 2022 Electronic </a:t>
            </a:r>
          </a:p>
          <a:p>
            <a:r>
              <a:rPr lang="en-US" dirty="0">
                <a:solidFill>
                  <a:schemeClr val="bg1"/>
                </a:solidFill>
              </a:rPr>
              <a:t>ISBN:978-1-6654-3811-7 Print on Demand(</a:t>
            </a:r>
            <a:r>
              <a:rPr lang="en-US" dirty="0" err="1">
                <a:solidFill>
                  <a:schemeClr val="bg1"/>
                </a:solidFill>
              </a:rPr>
              <a:t>PoD</a:t>
            </a:r>
            <a:r>
              <a:rPr lang="en-US" dirty="0">
                <a:solidFill>
                  <a:schemeClr val="bg1"/>
                </a:solidFill>
              </a:rPr>
              <a:t>) </a:t>
            </a:r>
          </a:p>
          <a:p>
            <a:r>
              <a:rPr lang="en-US" dirty="0">
                <a:solidFill>
                  <a:schemeClr val="bg1"/>
                </a:solidFill>
              </a:rPr>
              <a:t>ISBN:978-1-6654-3812-4 </a:t>
            </a:r>
          </a:p>
          <a:p>
            <a:r>
              <a:rPr lang="en-US" dirty="0">
                <a:solidFill>
                  <a:schemeClr val="bg1"/>
                </a:solidFill>
              </a:rPr>
              <a:t>INSPEC Accession Number: 21666268 </a:t>
            </a:r>
          </a:p>
          <a:p>
            <a:r>
              <a:rPr lang="en-US" dirty="0">
                <a:solidFill>
                  <a:schemeClr val="bg1"/>
                </a:solidFill>
              </a:rPr>
              <a:t>DOI: 10.1109/ICAC3N53548.2021.9725747 </a:t>
            </a:r>
          </a:p>
          <a:p>
            <a:r>
              <a:rPr lang="en-US" dirty="0">
                <a:solidFill>
                  <a:schemeClr val="bg1"/>
                </a:solidFill>
              </a:rPr>
              <a:t>Publisher: IEEE Conference</a:t>
            </a:r>
          </a:p>
          <a:p>
            <a:r>
              <a:rPr lang="en-US" dirty="0">
                <a:solidFill>
                  <a:schemeClr val="bg1"/>
                </a:solidFill>
              </a:rPr>
              <a:t>Location: Greater Noida, India</a:t>
            </a:r>
            <a:endParaRPr lang="en-IN" dirty="0">
              <a:solidFill>
                <a:schemeClr val="bg1"/>
              </a:solidFill>
            </a:endParaRPr>
          </a:p>
        </p:txBody>
      </p:sp>
    </p:spTree>
    <p:extLst>
      <p:ext uri="{BB962C8B-B14F-4D97-AF65-F5344CB8AC3E}">
        <p14:creationId xmlns:p14="http://schemas.microsoft.com/office/powerpoint/2010/main" val="59582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1277254" y="1143000"/>
            <a:ext cx="4945598" cy="1243584"/>
          </a:xfrm>
        </p:spPr>
        <p:txBody>
          <a:bodyPr/>
          <a:lstStyle/>
          <a:p>
            <a:r>
              <a:rPr lang="en-GB" sz="4800" dirty="0">
                <a:solidFill>
                  <a:schemeClr val="accent2"/>
                </a:solidFill>
              </a:rPr>
              <a:t>Any….</a:t>
            </a:r>
          </a:p>
        </p:txBody>
      </p:sp>
      <p:sp>
        <p:nvSpPr>
          <p:cNvPr id="3" name="Title 1">
            <a:extLst>
              <a:ext uri="{FF2B5EF4-FFF2-40B4-BE49-F238E27FC236}">
                <a16:creationId xmlns:a16="http://schemas.microsoft.com/office/drawing/2014/main" id="{5BA77E8A-00B8-32EC-9465-E35C62924406}"/>
              </a:ext>
            </a:extLst>
          </p:cNvPr>
          <p:cNvSpPr txBox="1">
            <a:spLocks/>
          </p:cNvSpPr>
          <p:nvPr/>
        </p:nvSpPr>
        <p:spPr>
          <a:xfrm>
            <a:off x="6853302" y="2649071"/>
            <a:ext cx="5150440" cy="12435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GB" sz="5400" b="1" kern="1200" dirty="0">
                <a:solidFill>
                  <a:schemeClr val="bg1"/>
                </a:solidFill>
                <a:latin typeface="+mj-lt"/>
                <a:ea typeface="Tahoma" panose="020B0604030504040204" pitchFamily="34" charset="0"/>
                <a:cs typeface="Tahoma" panose="020B0604030504040204" pitchFamily="34" charset="0"/>
              </a:defRPr>
            </a:lvl1pPr>
          </a:lstStyle>
          <a:p>
            <a:r>
              <a:rPr lang="en-US" sz="4800" dirty="0">
                <a:solidFill>
                  <a:srgbClr val="00B050"/>
                </a:solidFill>
              </a:rPr>
              <a:t>Suggestions…??</a:t>
            </a:r>
          </a:p>
        </p:txBody>
      </p:sp>
      <p:sp>
        <p:nvSpPr>
          <p:cNvPr id="4" name="Title 1">
            <a:extLst>
              <a:ext uri="{FF2B5EF4-FFF2-40B4-BE49-F238E27FC236}">
                <a16:creationId xmlns:a16="http://schemas.microsoft.com/office/drawing/2014/main" id="{530FED77-C61E-5939-8696-9FB115A85C02}"/>
              </a:ext>
            </a:extLst>
          </p:cNvPr>
          <p:cNvSpPr txBox="1">
            <a:spLocks/>
          </p:cNvSpPr>
          <p:nvPr/>
        </p:nvSpPr>
        <p:spPr>
          <a:xfrm>
            <a:off x="4818312" y="5093208"/>
            <a:ext cx="4945598" cy="12435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GB" sz="5400" b="1" kern="1200" dirty="0">
                <a:solidFill>
                  <a:schemeClr val="bg1"/>
                </a:solidFill>
                <a:latin typeface="+mj-lt"/>
                <a:ea typeface="Tahoma" panose="020B0604030504040204" pitchFamily="34" charset="0"/>
                <a:cs typeface="Tahoma" panose="020B0604030504040204" pitchFamily="34" charset="0"/>
              </a:defRPr>
            </a:lvl1pPr>
          </a:lstStyle>
          <a:p>
            <a:r>
              <a:rPr lang="en-US" sz="2400" dirty="0"/>
              <a:t>From your side…..</a:t>
            </a:r>
          </a:p>
        </p:txBody>
      </p:sp>
    </p:spTree>
    <p:extLst>
      <p:ext uri="{BB962C8B-B14F-4D97-AF65-F5344CB8AC3E}">
        <p14:creationId xmlns:p14="http://schemas.microsoft.com/office/powerpoint/2010/main" val="4406968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4751077" y="2995468"/>
            <a:ext cx="4945598" cy="1243584"/>
          </a:xfrm>
        </p:spPr>
        <p:txBody>
          <a:bodyPr/>
          <a:lstStyle/>
          <a:p>
            <a:r>
              <a:rPr lang="en-US" dirty="0"/>
              <a:t>Thank You….</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433</TotalTime>
  <Words>689</Words>
  <Application>Microsoft Office PowerPoint</Application>
  <PresentationFormat>Widescreen</PresentationFormat>
  <Paragraphs>145</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Courier New</vt:lpstr>
      <vt:lpstr>MV Boli</vt:lpstr>
      <vt:lpstr>Trade Gothic LT Pro</vt:lpstr>
      <vt:lpstr>Trebuchet MS</vt:lpstr>
      <vt:lpstr>Wingdings</vt:lpstr>
      <vt:lpstr>Office Theme</vt:lpstr>
      <vt:lpstr>Smart Eye Glass with Face recognition and obstacle Detection for Virtually impaired</vt:lpstr>
      <vt:lpstr>Objectives</vt:lpstr>
      <vt:lpstr>Introduction</vt:lpstr>
      <vt:lpstr>Block Diagram</vt:lpstr>
      <vt:lpstr>Working</vt:lpstr>
      <vt:lpstr>Obstacle Detection</vt:lpstr>
      <vt:lpstr>PowerPoint Presentation</vt:lpstr>
      <vt:lpstr>PowerPoint Presentation</vt:lpstr>
      <vt:lpstr>PowerPoint Presentation</vt:lpstr>
      <vt:lpstr>PowerPoint Presentation</vt:lpstr>
      <vt:lpstr>Face Recognition</vt:lpstr>
      <vt:lpstr>PowerPoint Presentation</vt:lpstr>
      <vt:lpstr>Overall Connection</vt:lpstr>
      <vt:lpstr>The Smart Eye Glass</vt:lpstr>
      <vt:lpstr>Limitations</vt:lpstr>
      <vt:lpstr>References</vt:lpstr>
      <vt:lpstr>Any….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Shahabuddin jee</dc:creator>
  <cp:lastModifiedBy>Shahabuddin jee</cp:lastModifiedBy>
  <cp:revision>138</cp:revision>
  <dcterms:created xsi:type="dcterms:W3CDTF">2023-04-27T11:33:21Z</dcterms:created>
  <dcterms:modified xsi:type="dcterms:W3CDTF">2023-05-07T17:35:43Z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